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4"/>
  </p:notesMasterIdLst>
  <p:handoutMasterIdLst>
    <p:handoutMasterId r:id="rId25"/>
  </p:handoutMasterIdLst>
  <p:sldIdLst>
    <p:sldId id="256" r:id="rId5"/>
    <p:sldId id="257" r:id="rId6"/>
    <p:sldId id="278" r:id="rId7"/>
    <p:sldId id="258" r:id="rId8"/>
    <p:sldId id="287" r:id="rId9"/>
    <p:sldId id="279" r:id="rId10"/>
    <p:sldId id="283" r:id="rId11"/>
    <p:sldId id="290" r:id="rId12"/>
    <p:sldId id="291" r:id="rId13"/>
    <p:sldId id="293" r:id="rId14"/>
    <p:sldId id="294" r:id="rId15"/>
    <p:sldId id="292" r:id="rId16"/>
    <p:sldId id="295" r:id="rId17"/>
    <p:sldId id="289" r:id="rId18"/>
    <p:sldId id="297" r:id="rId19"/>
    <p:sldId id="296" r:id="rId20"/>
    <p:sldId id="298" r:id="rId21"/>
    <p:sldId id="281" r:id="rId22"/>
    <p:sldId id="27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0655" autoAdjust="0"/>
  </p:normalViewPr>
  <p:slideViewPr>
    <p:cSldViewPr snapToGrid="0">
      <p:cViewPr varScale="1">
        <p:scale>
          <a:sx n="106" d="100"/>
          <a:sy n="106" d="100"/>
        </p:scale>
        <p:origin x="852" y="102"/>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42156D-AC4F-47B8-82F0-5606B9F2C732}" type="doc">
      <dgm:prSet loTypeId="urn:microsoft.com/office/officeart/2005/8/layout/radial1" loCatId="relationship" qsTypeId="urn:microsoft.com/office/officeart/2005/8/quickstyle/simple1" qsCatId="simple" csTypeId="urn:microsoft.com/office/officeart/2005/8/colors/accent1_2" csCatId="accent1" phldr="1"/>
      <dgm:spPr/>
      <dgm:t>
        <a:bodyPr/>
        <a:lstStyle/>
        <a:p>
          <a:endParaRPr lang="en-US"/>
        </a:p>
      </dgm:t>
    </dgm:pt>
    <dgm:pt modelId="{F42D2363-17CA-43E9-8969-18B9FC89EF79}">
      <dgm:prSet phldrT="[Text]" custT="1"/>
      <dgm:spPr/>
      <dgm:t>
        <a:bodyPr/>
        <a:lstStyle/>
        <a:p>
          <a:r>
            <a:rPr lang="en-US" sz="2000" dirty="0"/>
            <a:t>Scrum Master</a:t>
          </a:r>
        </a:p>
      </dgm:t>
    </dgm:pt>
    <dgm:pt modelId="{5500C55C-FC8F-414A-8FFC-3C51B03F699D}" type="parTrans" cxnId="{6C0AAE1F-1999-48F7-B5E2-1996DF8AE7A7}">
      <dgm:prSet/>
      <dgm:spPr/>
      <dgm:t>
        <a:bodyPr/>
        <a:lstStyle/>
        <a:p>
          <a:endParaRPr lang="en-US"/>
        </a:p>
      </dgm:t>
    </dgm:pt>
    <dgm:pt modelId="{E16DC1DA-E48E-4DFE-96DA-52D61FEF28DD}" type="sibTrans" cxnId="{6C0AAE1F-1999-48F7-B5E2-1996DF8AE7A7}">
      <dgm:prSet/>
      <dgm:spPr/>
      <dgm:t>
        <a:bodyPr/>
        <a:lstStyle/>
        <a:p>
          <a:endParaRPr lang="en-US"/>
        </a:p>
      </dgm:t>
    </dgm:pt>
    <dgm:pt modelId="{E461C667-6DC7-4B02-ADD6-90F307F839D7}">
      <dgm:prSet phldrT="[Text]"/>
      <dgm:spPr/>
      <dgm:t>
        <a:bodyPr/>
        <a:lstStyle/>
        <a:p>
          <a:r>
            <a:rPr lang="en-US" dirty="0"/>
            <a:t>Product Owner</a:t>
          </a:r>
        </a:p>
      </dgm:t>
    </dgm:pt>
    <dgm:pt modelId="{98397310-DDB0-43F6-AB0D-527395F92005}" type="parTrans" cxnId="{061C4B89-281D-497F-AD42-7ACBD8DD2BDE}">
      <dgm:prSet/>
      <dgm:spPr/>
      <dgm:t>
        <a:bodyPr/>
        <a:lstStyle/>
        <a:p>
          <a:endParaRPr lang="en-US"/>
        </a:p>
      </dgm:t>
    </dgm:pt>
    <dgm:pt modelId="{037DFCA2-1AC2-404E-A00D-A5CBFA606D0F}" type="sibTrans" cxnId="{061C4B89-281D-497F-AD42-7ACBD8DD2BDE}">
      <dgm:prSet/>
      <dgm:spPr/>
      <dgm:t>
        <a:bodyPr/>
        <a:lstStyle/>
        <a:p>
          <a:endParaRPr lang="en-US"/>
        </a:p>
      </dgm:t>
    </dgm:pt>
    <dgm:pt modelId="{F2F22637-0289-4C48-B64B-089745CE091F}">
      <dgm:prSet phldrT="[Text]"/>
      <dgm:spPr/>
      <dgm:t>
        <a:bodyPr/>
        <a:lstStyle/>
        <a:p>
          <a:r>
            <a:rPr lang="en-US" dirty="0"/>
            <a:t>Developer</a:t>
          </a:r>
        </a:p>
      </dgm:t>
    </dgm:pt>
    <dgm:pt modelId="{76A032D5-B76E-42E7-963C-E2518F7001F9}" type="parTrans" cxnId="{63889999-DCDA-40AB-9E00-BE88F8D06E91}">
      <dgm:prSet/>
      <dgm:spPr/>
      <dgm:t>
        <a:bodyPr/>
        <a:lstStyle/>
        <a:p>
          <a:endParaRPr lang="en-US"/>
        </a:p>
      </dgm:t>
    </dgm:pt>
    <dgm:pt modelId="{92CA46ED-341A-4866-9206-9D1611A0F418}" type="sibTrans" cxnId="{63889999-DCDA-40AB-9E00-BE88F8D06E91}">
      <dgm:prSet/>
      <dgm:spPr/>
      <dgm:t>
        <a:bodyPr/>
        <a:lstStyle/>
        <a:p>
          <a:endParaRPr lang="en-US"/>
        </a:p>
      </dgm:t>
    </dgm:pt>
    <dgm:pt modelId="{96DF765C-20A8-439B-8379-B9E1957843AB}">
      <dgm:prSet phldrT="[Text]"/>
      <dgm:spPr/>
      <dgm:t>
        <a:bodyPr/>
        <a:lstStyle/>
        <a:p>
          <a:r>
            <a:rPr lang="en-US" dirty="0"/>
            <a:t>Tester</a:t>
          </a:r>
        </a:p>
      </dgm:t>
    </dgm:pt>
    <dgm:pt modelId="{CCF06D34-1A88-41B3-87CD-76E72EAB784E}" type="parTrans" cxnId="{C885175D-0112-4C48-8E97-E4E1F3739427}">
      <dgm:prSet/>
      <dgm:spPr/>
      <dgm:t>
        <a:bodyPr/>
        <a:lstStyle/>
        <a:p>
          <a:endParaRPr lang="en-US"/>
        </a:p>
      </dgm:t>
    </dgm:pt>
    <dgm:pt modelId="{AC9FCF4C-F886-41A9-A5D3-A46215F88223}" type="sibTrans" cxnId="{C885175D-0112-4C48-8E97-E4E1F3739427}">
      <dgm:prSet/>
      <dgm:spPr/>
      <dgm:t>
        <a:bodyPr/>
        <a:lstStyle/>
        <a:p>
          <a:endParaRPr lang="en-US"/>
        </a:p>
      </dgm:t>
    </dgm:pt>
    <dgm:pt modelId="{C2E27267-B2CE-49D9-83C4-7993E0D34976}">
      <dgm:prSet phldrT="[Text]"/>
      <dgm:spPr/>
      <dgm:t>
        <a:bodyPr/>
        <a:lstStyle/>
        <a:p>
          <a:r>
            <a:rPr lang="en-US" dirty="0"/>
            <a:t>Client</a:t>
          </a:r>
        </a:p>
      </dgm:t>
    </dgm:pt>
    <dgm:pt modelId="{49C5465D-6122-4FC0-81EF-CE66E3C096DA}" type="parTrans" cxnId="{59F3334E-E8BE-43DB-AF7C-839A4B8AB291}">
      <dgm:prSet/>
      <dgm:spPr/>
      <dgm:t>
        <a:bodyPr/>
        <a:lstStyle/>
        <a:p>
          <a:endParaRPr lang="en-US"/>
        </a:p>
      </dgm:t>
    </dgm:pt>
    <dgm:pt modelId="{966BA748-CB20-48F6-A7BF-1BE6648EDCEC}" type="sibTrans" cxnId="{59F3334E-E8BE-43DB-AF7C-839A4B8AB291}">
      <dgm:prSet/>
      <dgm:spPr/>
      <dgm:t>
        <a:bodyPr/>
        <a:lstStyle/>
        <a:p>
          <a:endParaRPr lang="en-US"/>
        </a:p>
      </dgm:t>
    </dgm:pt>
    <dgm:pt modelId="{F2DE8213-941A-4997-AF08-7DB8C670DD04}" type="pres">
      <dgm:prSet presAssocID="{A542156D-AC4F-47B8-82F0-5606B9F2C732}" presName="cycle" presStyleCnt="0">
        <dgm:presLayoutVars>
          <dgm:chMax val="1"/>
          <dgm:dir/>
          <dgm:animLvl val="ctr"/>
          <dgm:resizeHandles val="exact"/>
        </dgm:presLayoutVars>
      </dgm:prSet>
      <dgm:spPr/>
    </dgm:pt>
    <dgm:pt modelId="{3C813AD9-74F8-4E7C-9D77-8E9698558B1B}" type="pres">
      <dgm:prSet presAssocID="{F42D2363-17CA-43E9-8969-18B9FC89EF79}" presName="centerShape" presStyleLbl="node0" presStyleIdx="0" presStyleCnt="1"/>
      <dgm:spPr/>
    </dgm:pt>
    <dgm:pt modelId="{FBA021B5-F335-406F-BB6B-EC6625CE1C53}" type="pres">
      <dgm:prSet presAssocID="{98397310-DDB0-43F6-AB0D-527395F92005}" presName="Name9" presStyleLbl="parChTrans1D2" presStyleIdx="0" presStyleCnt="4"/>
      <dgm:spPr/>
    </dgm:pt>
    <dgm:pt modelId="{113746A3-DD2F-4564-A12E-AF7D522E6F75}" type="pres">
      <dgm:prSet presAssocID="{98397310-DDB0-43F6-AB0D-527395F92005}" presName="connTx" presStyleLbl="parChTrans1D2" presStyleIdx="0" presStyleCnt="4"/>
      <dgm:spPr/>
    </dgm:pt>
    <dgm:pt modelId="{38ECD57C-A609-4AA9-9B4E-234DE3241AF7}" type="pres">
      <dgm:prSet presAssocID="{E461C667-6DC7-4B02-ADD6-90F307F839D7}" presName="node" presStyleLbl="node1" presStyleIdx="0" presStyleCnt="4">
        <dgm:presLayoutVars>
          <dgm:bulletEnabled val="1"/>
        </dgm:presLayoutVars>
      </dgm:prSet>
      <dgm:spPr/>
    </dgm:pt>
    <dgm:pt modelId="{43A723AC-85B0-4AA6-98DB-F30BCA8CE6A5}" type="pres">
      <dgm:prSet presAssocID="{76A032D5-B76E-42E7-963C-E2518F7001F9}" presName="Name9" presStyleLbl="parChTrans1D2" presStyleIdx="1" presStyleCnt="4"/>
      <dgm:spPr/>
    </dgm:pt>
    <dgm:pt modelId="{E1648D68-61F8-46C6-B31E-B35D06BA1A58}" type="pres">
      <dgm:prSet presAssocID="{76A032D5-B76E-42E7-963C-E2518F7001F9}" presName="connTx" presStyleLbl="parChTrans1D2" presStyleIdx="1" presStyleCnt="4"/>
      <dgm:spPr/>
    </dgm:pt>
    <dgm:pt modelId="{5F594E7B-EC5F-4B91-8D3A-585BE7D432C8}" type="pres">
      <dgm:prSet presAssocID="{F2F22637-0289-4C48-B64B-089745CE091F}" presName="node" presStyleLbl="node1" presStyleIdx="1" presStyleCnt="4">
        <dgm:presLayoutVars>
          <dgm:bulletEnabled val="1"/>
        </dgm:presLayoutVars>
      </dgm:prSet>
      <dgm:spPr/>
    </dgm:pt>
    <dgm:pt modelId="{292F0E3B-FA83-411F-BFFF-D79920BFBC67}" type="pres">
      <dgm:prSet presAssocID="{CCF06D34-1A88-41B3-87CD-76E72EAB784E}" presName="Name9" presStyleLbl="parChTrans1D2" presStyleIdx="2" presStyleCnt="4"/>
      <dgm:spPr/>
    </dgm:pt>
    <dgm:pt modelId="{ADF73A62-7767-4EB3-9303-837B678A6545}" type="pres">
      <dgm:prSet presAssocID="{CCF06D34-1A88-41B3-87CD-76E72EAB784E}" presName="connTx" presStyleLbl="parChTrans1D2" presStyleIdx="2" presStyleCnt="4"/>
      <dgm:spPr/>
    </dgm:pt>
    <dgm:pt modelId="{58C4EABA-0F16-4464-9504-C8B964E30C6A}" type="pres">
      <dgm:prSet presAssocID="{96DF765C-20A8-439B-8379-B9E1957843AB}" presName="node" presStyleLbl="node1" presStyleIdx="2" presStyleCnt="4">
        <dgm:presLayoutVars>
          <dgm:bulletEnabled val="1"/>
        </dgm:presLayoutVars>
      </dgm:prSet>
      <dgm:spPr/>
    </dgm:pt>
    <dgm:pt modelId="{7AB36810-2113-4CF1-AC6A-EC818D57FFDD}" type="pres">
      <dgm:prSet presAssocID="{49C5465D-6122-4FC0-81EF-CE66E3C096DA}" presName="Name9" presStyleLbl="parChTrans1D2" presStyleIdx="3" presStyleCnt="4"/>
      <dgm:spPr/>
    </dgm:pt>
    <dgm:pt modelId="{3839D6AA-B4BA-48C8-8AB3-7E43128F90EC}" type="pres">
      <dgm:prSet presAssocID="{49C5465D-6122-4FC0-81EF-CE66E3C096DA}" presName="connTx" presStyleLbl="parChTrans1D2" presStyleIdx="3" presStyleCnt="4"/>
      <dgm:spPr/>
    </dgm:pt>
    <dgm:pt modelId="{BF33B03D-DBC6-424B-A080-F4EAA02E8595}" type="pres">
      <dgm:prSet presAssocID="{C2E27267-B2CE-49D9-83C4-7993E0D34976}" presName="node" presStyleLbl="node1" presStyleIdx="3" presStyleCnt="4">
        <dgm:presLayoutVars>
          <dgm:bulletEnabled val="1"/>
        </dgm:presLayoutVars>
      </dgm:prSet>
      <dgm:spPr/>
    </dgm:pt>
  </dgm:ptLst>
  <dgm:cxnLst>
    <dgm:cxn modelId="{D7433001-0495-44B3-B5B0-6E650318DF35}" type="presOf" srcId="{E461C667-6DC7-4B02-ADD6-90F307F839D7}" destId="{38ECD57C-A609-4AA9-9B4E-234DE3241AF7}" srcOrd="0" destOrd="0" presId="urn:microsoft.com/office/officeart/2005/8/layout/radial1"/>
    <dgm:cxn modelId="{57D6C710-F1F2-4D99-BB03-1AE1E2E06449}" type="presOf" srcId="{CCF06D34-1A88-41B3-87CD-76E72EAB784E}" destId="{292F0E3B-FA83-411F-BFFF-D79920BFBC67}" srcOrd="0" destOrd="0" presId="urn:microsoft.com/office/officeart/2005/8/layout/radial1"/>
    <dgm:cxn modelId="{6C0AAE1F-1999-48F7-B5E2-1996DF8AE7A7}" srcId="{A542156D-AC4F-47B8-82F0-5606B9F2C732}" destId="{F42D2363-17CA-43E9-8969-18B9FC89EF79}" srcOrd="0" destOrd="0" parTransId="{5500C55C-FC8F-414A-8FFC-3C51B03F699D}" sibTransId="{E16DC1DA-E48E-4DFE-96DA-52D61FEF28DD}"/>
    <dgm:cxn modelId="{4AE64C24-AC93-4CB9-B201-D4FB88583525}" type="presOf" srcId="{F42D2363-17CA-43E9-8969-18B9FC89EF79}" destId="{3C813AD9-74F8-4E7C-9D77-8E9698558B1B}" srcOrd="0" destOrd="0" presId="urn:microsoft.com/office/officeart/2005/8/layout/radial1"/>
    <dgm:cxn modelId="{CF3DC62F-9EE3-45CE-8D85-03AD3BE07210}" type="presOf" srcId="{49C5465D-6122-4FC0-81EF-CE66E3C096DA}" destId="{3839D6AA-B4BA-48C8-8AB3-7E43128F90EC}" srcOrd="1" destOrd="0" presId="urn:microsoft.com/office/officeart/2005/8/layout/radial1"/>
    <dgm:cxn modelId="{3DE06937-F5BF-4097-B703-B8BD9E4170B3}" type="presOf" srcId="{F2F22637-0289-4C48-B64B-089745CE091F}" destId="{5F594E7B-EC5F-4B91-8D3A-585BE7D432C8}" srcOrd="0" destOrd="0" presId="urn:microsoft.com/office/officeart/2005/8/layout/radial1"/>
    <dgm:cxn modelId="{515FA25C-3BC2-4ACB-B14A-9505629A042B}" type="presOf" srcId="{76A032D5-B76E-42E7-963C-E2518F7001F9}" destId="{43A723AC-85B0-4AA6-98DB-F30BCA8CE6A5}" srcOrd="0" destOrd="0" presId="urn:microsoft.com/office/officeart/2005/8/layout/radial1"/>
    <dgm:cxn modelId="{C885175D-0112-4C48-8E97-E4E1F3739427}" srcId="{F42D2363-17CA-43E9-8969-18B9FC89EF79}" destId="{96DF765C-20A8-439B-8379-B9E1957843AB}" srcOrd="2" destOrd="0" parTransId="{CCF06D34-1A88-41B3-87CD-76E72EAB784E}" sibTransId="{AC9FCF4C-F886-41A9-A5D3-A46215F88223}"/>
    <dgm:cxn modelId="{DEFE7C5E-CF72-4C0D-8A7D-7AFF384F635C}" type="presOf" srcId="{CCF06D34-1A88-41B3-87CD-76E72EAB784E}" destId="{ADF73A62-7767-4EB3-9303-837B678A6545}" srcOrd="1" destOrd="0" presId="urn:microsoft.com/office/officeart/2005/8/layout/radial1"/>
    <dgm:cxn modelId="{02310367-5E37-4B28-94C3-A9E8B64923CC}" type="presOf" srcId="{C2E27267-B2CE-49D9-83C4-7993E0D34976}" destId="{BF33B03D-DBC6-424B-A080-F4EAA02E8595}" srcOrd="0" destOrd="0" presId="urn:microsoft.com/office/officeart/2005/8/layout/radial1"/>
    <dgm:cxn modelId="{59F3334E-E8BE-43DB-AF7C-839A4B8AB291}" srcId="{F42D2363-17CA-43E9-8969-18B9FC89EF79}" destId="{C2E27267-B2CE-49D9-83C4-7993E0D34976}" srcOrd="3" destOrd="0" parTransId="{49C5465D-6122-4FC0-81EF-CE66E3C096DA}" sibTransId="{966BA748-CB20-48F6-A7BF-1BE6648EDCEC}"/>
    <dgm:cxn modelId="{F49C736E-ABED-488E-BD3E-CABF3AD19ABA}" type="presOf" srcId="{98397310-DDB0-43F6-AB0D-527395F92005}" destId="{FBA021B5-F335-406F-BB6B-EC6625CE1C53}" srcOrd="0" destOrd="0" presId="urn:microsoft.com/office/officeart/2005/8/layout/radial1"/>
    <dgm:cxn modelId="{984CBA50-4084-4F78-81F7-0C7782EBEDD9}" type="presOf" srcId="{76A032D5-B76E-42E7-963C-E2518F7001F9}" destId="{E1648D68-61F8-46C6-B31E-B35D06BA1A58}" srcOrd="1" destOrd="0" presId="urn:microsoft.com/office/officeart/2005/8/layout/radial1"/>
    <dgm:cxn modelId="{061C4B89-281D-497F-AD42-7ACBD8DD2BDE}" srcId="{F42D2363-17CA-43E9-8969-18B9FC89EF79}" destId="{E461C667-6DC7-4B02-ADD6-90F307F839D7}" srcOrd="0" destOrd="0" parTransId="{98397310-DDB0-43F6-AB0D-527395F92005}" sibTransId="{037DFCA2-1AC2-404E-A00D-A5CBFA606D0F}"/>
    <dgm:cxn modelId="{2DBE9797-DAEC-4D61-A654-A079629C5414}" type="presOf" srcId="{98397310-DDB0-43F6-AB0D-527395F92005}" destId="{113746A3-DD2F-4564-A12E-AF7D522E6F75}" srcOrd="1" destOrd="0" presId="urn:microsoft.com/office/officeart/2005/8/layout/radial1"/>
    <dgm:cxn modelId="{63889999-DCDA-40AB-9E00-BE88F8D06E91}" srcId="{F42D2363-17CA-43E9-8969-18B9FC89EF79}" destId="{F2F22637-0289-4C48-B64B-089745CE091F}" srcOrd="1" destOrd="0" parTransId="{76A032D5-B76E-42E7-963C-E2518F7001F9}" sibTransId="{92CA46ED-341A-4866-9206-9D1611A0F418}"/>
    <dgm:cxn modelId="{8B5663AA-2F7C-4FFF-BB1B-92EFF1350CD1}" type="presOf" srcId="{A542156D-AC4F-47B8-82F0-5606B9F2C732}" destId="{F2DE8213-941A-4997-AF08-7DB8C670DD04}" srcOrd="0" destOrd="0" presId="urn:microsoft.com/office/officeart/2005/8/layout/radial1"/>
    <dgm:cxn modelId="{B7FFD5B6-618F-44E2-BB5C-0E0AFFBFD4A3}" type="presOf" srcId="{49C5465D-6122-4FC0-81EF-CE66E3C096DA}" destId="{7AB36810-2113-4CF1-AC6A-EC818D57FFDD}" srcOrd="0" destOrd="0" presId="urn:microsoft.com/office/officeart/2005/8/layout/radial1"/>
    <dgm:cxn modelId="{54C7A1BF-7D71-4D12-9F23-B6B4836FC146}" type="presOf" srcId="{96DF765C-20A8-439B-8379-B9E1957843AB}" destId="{58C4EABA-0F16-4464-9504-C8B964E30C6A}" srcOrd="0" destOrd="0" presId="urn:microsoft.com/office/officeart/2005/8/layout/radial1"/>
    <dgm:cxn modelId="{69112EAA-6C52-41EC-BA45-4D117E906BBB}" type="presParOf" srcId="{F2DE8213-941A-4997-AF08-7DB8C670DD04}" destId="{3C813AD9-74F8-4E7C-9D77-8E9698558B1B}" srcOrd="0" destOrd="0" presId="urn:microsoft.com/office/officeart/2005/8/layout/radial1"/>
    <dgm:cxn modelId="{9C82D854-6F63-449E-88AF-5AE2F25F5771}" type="presParOf" srcId="{F2DE8213-941A-4997-AF08-7DB8C670DD04}" destId="{FBA021B5-F335-406F-BB6B-EC6625CE1C53}" srcOrd="1" destOrd="0" presId="urn:microsoft.com/office/officeart/2005/8/layout/radial1"/>
    <dgm:cxn modelId="{79BA8154-07B2-44D3-BA22-F7C12CFE9194}" type="presParOf" srcId="{FBA021B5-F335-406F-BB6B-EC6625CE1C53}" destId="{113746A3-DD2F-4564-A12E-AF7D522E6F75}" srcOrd="0" destOrd="0" presId="urn:microsoft.com/office/officeart/2005/8/layout/radial1"/>
    <dgm:cxn modelId="{866C3CE7-4478-4C99-B8A1-A9E0571FD3D1}" type="presParOf" srcId="{F2DE8213-941A-4997-AF08-7DB8C670DD04}" destId="{38ECD57C-A609-4AA9-9B4E-234DE3241AF7}" srcOrd="2" destOrd="0" presId="urn:microsoft.com/office/officeart/2005/8/layout/radial1"/>
    <dgm:cxn modelId="{0315DF34-B502-45FB-8132-6A07D1AE3B5B}" type="presParOf" srcId="{F2DE8213-941A-4997-AF08-7DB8C670DD04}" destId="{43A723AC-85B0-4AA6-98DB-F30BCA8CE6A5}" srcOrd="3" destOrd="0" presId="urn:microsoft.com/office/officeart/2005/8/layout/radial1"/>
    <dgm:cxn modelId="{BE044D21-DE41-43EC-9773-CAB849A9512F}" type="presParOf" srcId="{43A723AC-85B0-4AA6-98DB-F30BCA8CE6A5}" destId="{E1648D68-61F8-46C6-B31E-B35D06BA1A58}" srcOrd="0" destOrd="0" presId="urn:microsoft.com/office/officeart/2005/8/layout/radial1"/>
    <dgm:cxn modelId="{9684A536-99D4-43F1-BEAD-99EFC647C344}" type="presParOf" srcId="{F2DE8213-941A-4997-AF08-7DB8C670DD04}" destId="{5F594E7B-EC5F-4B91-8D3A-585BE7D432C8}" srcOrd="4" destOrd="0" presId="urn:microsoft.com/office/officeart/2005/8/layout/radial1"/>
    <dgm:cxn modelId="{1F5BE36C-C253-416D-937B-8DCF41C6C744}" type="presParOf" srcId="{F2DE8213-941A-4997-AF08-7DB8C670DD04}" destId="{292F0E3B-FA83-411F-BFFF-D79920BFBC67}" srcOrd="5" destOrd="0" presId="urn:microsoft.com/office/officeart/2005/8/layout/radial1"/>
    <dgm:cxn modelId="{C7BEB0AC-6E8D-49AA-BB10-4ABCDFDED51C}" type="presParOf" srcId="{292F0E3B-FA83-411F-BFFF-D79920BFBC67}" destId="{ADF73A62-7767-4EB3-9303-837B678A6545}" srcOrd="0" destOrd="0" presId="urn:microsoft.com/office/officeart/2005/8/layout/radial1"/>
    <dgm:cxn modelId="{9A269993-0AA5-490B-A39A-F367A39EBDB6}" type="presParOf" srcId="{F2DE8213-941A-4997-AF08-7DB8C670DD04}" destId="{58C4EABA-0F16-4464-9504-C8B964E30C6A}" srcOrd="6" destOrd="0" presId="urn:microsoft.com/office/officeart/2005/8/layout/radial1"/>
    <dgm:cxn modelId="{E52803D3-D578-4BC2-929D-A238ED5F84E3}" type="presParOf" srcId="{F2DE8213-941A-4997-AF08-7DB8C670DD04}" destId="{7AB36810-2113-4CF1-AC6A-EC818D57FFDD}" srcOrd="7" destOrd="0" presId="urn:microsoft.com/office/officeart/2005/8/layout/radial1"/>
    <dgm:cxn modelId="{3A438F37-23C5-423E-A60A-470F756C28C2}" type="presParOf" srcId="{7AB36810-2113-4CF1-AC6A-EC818D57FFDD}" destId="{3839D6AA-B4BA-48C8-8AB3-7E43128F90EC}" srcOrd="0" destOrd="0" presId="urn:microsoft.com/office/officeart/2005/8/layout/radial1"/>
    <dgm:cxn modelId="{13747C07-65BD-4C30-9DAC-77FF1191D30C}" type="presParOf" srcId="{F2DE8213-941A-4997-AF08-7DB8C670DD04}" destId="{BF33B03D-DBC6-424B-A080-F4EAA02E8595}" srcOrd="8"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A36315-032A-4634-AA30-3CE74A111D9B}"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US"/>
        </a:p>
      </dgm:t>
    </dgm:pt>
    <dgm:pt modelId="{967E5990-BF54-4638-8E4E-D2867A0B0AE8}">
      <dgm:prSet phldrT="[Text]"/>
      <dgm:spPr/>
      <dgm:t>
        <a:bodyPr/>
        <a:lstStyle/>
        <a:p>
          <a:r>
            <a:rPr lang="en-US" dirty="0"/>
            <a:t>Daily Scrum</a:t>
          </a:r>
        </a:p>
      </dgm:t>
    </dgm:pt>
    <dgm:pt modelId="{212BE6F1-8849-44F8-BC77-AC792198E637}" type="parTrans" cxnId="{C43A02CE-F93A-413D-B86E-A0F0655A25AB}">
      <dgm:prSet/>
      <dgm:spPr/>
      <dgm:t>
        <a:bodyPr/>
        <a:lstStyle/>
        <a:p>
          <a:endParaRPr lang="en-US"/>
        </a:p>
      </dgm:t>
    </dgm:pt>
    <dgm:pt modelId="{2D26AE2A-A84A-48F8-B7FA-1A09842B2341}" type="sibTrans" cxnId="{C43A02CE-F93A-413D-B86E-A0F0655A25AB}">
      <dgm:prSet/>
      <dgm:spPr/>
      <dgm:t>
        <a:bodyPr/>
        <a:lstStyle/>
        <a:p>
          <a:endParaRPr lang="en-US"/>
        </a:p>
      </dgm:t>
    </dgm:pt>
    <dgm:pt modelId="{92DF2AC7-5D0F-4ABC-B793-B222111598E1}">
      <dgm:prSet phldrT="[Text]"/>
      <dgm:spPr/>
      <dgm:t>
        <a:bodyPr/>
        <a:lstStyle/>
        <a:p>
          <a:r>
            <a:rPr lang="en-US" dirty="0"/>
            <a:t>Sprint Planning</a:t>
          </a:r>
        </a:p>
      </dgm:t>
    </dgm:pt>
    <dgm:pt modelId="{1584DD72-9488-414F-8DB5-EB8D72A0EC6B}" type="parTrans" cxnId="{6ABD9523-6700-4A79-B829-A55E900EA302}">
      <dgm:prSet/>
      <dgm:spPr/>
      <dgm:t>
        <a:bodyPr/>
        <a:lstStyle/>
        <a:p>
          <a:endParaRPr lang="en-US"/>
        </a:p>
      </dgm:t>
    </dgm:pt>
    <dgm:pt modelId="{3A86634E-B9C0-4B76-8931-1A002E41D7BC}" type="sibTrans" cxnId="{6ABD9523-6700-4A79-B829-A55E900EA302}">
      <dgm:prSet/>
      <dgm:spPr/>
      <dgm:t>
        <a:bodyPr/>
        <a:lstStyle/>
        <a:p>
          <a:endParaRPr lang="en-US"/>
        </a:p>
      </dgm:t>
    </dgm:pt>
    <dgm:pt modelId="{771C1B85-CCBF-4E61-9091-7F28BA04903C}">
      <dgm:prSet phldrT="[Text]"/>
      <dgm:spPr/>
      <dgm:t>
        <a:bodyPr/>
        <a:lstStyle/>
        <a:p>
          <a:r>
            <a:rPr lang="en-US" dirty="0"/>
            <a:t>Sprint Review</a:t>
          </a:r>
        </a:p>
      </dgm:t>
    </dgm:pt>
    <dgm:pt modelId="{02BE5F14-D89A-4AFC-8166-E45EA6772B8A}" type="parTrans" cxnId="{3B756F01-63BA-43EB-BA3C-AD445B1C2D7B}">
      <dgm:prSet/>
      <dgm:spPr/>
      <dgm:t>
        <a:bodyPr/>
        <a:lstStyle/>
        <a:p>
          <a:endParaRPr lang="en-US"/>
        </a:p>
      </dgm:t>
    </dgm:pt>
    <dgm:pt modelId="{987CB63E-ABE7-4133-9ABB-563593BF1A97}" type="sibTrans" cxnId="{3B756F01-63BA-43EB-BA3C-AD445B1C2D7B}">
      <dgm:prSet/>
      <dgm:spPr/>
      <dgm:t>
        <a:bodyPr/>
        <a:lstStyle/>
        <a:p>
          <a:endParaRPr lang="en-US"/>
        </a:p>
      </dgm:t>
    </dgm:pt>
    <dgm:pt modelId="{DC517848-E539-49B1-BAFE-36623075BA03}">
      <dgm:prSet phldrT="[Text]"/>
      <dgm:spPr/>
      <dgm:t>
        <a:bodyPr/>
        <a:lstStyle/>
        <a:p>
          <a:r>
            <a:rPr lang="en-US" dirty="0"/>
            <a:t>Sprint Retrospective</a:t>
          </a:r>
        </a:p>
      </dgm:t>
    </dgm:pt>
    <dgm:pt modelId="{9867E094-64DB-452E-8970-D78FE624560B}" type="parTrans" cxnId="{8E5E0C66-A967-4245-94D4-446320EDAD4B}">
      <dgm:prSet/>
      <dgm:spPr/>
      <dgm:t>
        <a:bodyPr/>
        <a:lstStyle/>
        <a:p>
          <a:endParaRPr lang="en-US"/>
        </a:p>
      </dgm:t>
    </dgm:pt>
    <dgm:pt modelId="{73CF7C94-7386-4B9E-96C7-0C868F12DE52}" type="sibTrans" cxnId="{8E5E0C66-A967-4245-94D4-446320EDAD4B}">
      <dgm:prSet/>
      <dgm:spPr/>
      <dgm:t>
        <a:bodyPr/>
        <a:lstStyle/>
        <a:p>
          <a:endParaRPr lang="en-US"/>
        </a:p>
      </dgm:t>
    </dgm:pt>
    <dgm:pt modelId="{3A22BBA6-4BF8-456B-9B00-D1D38CD9E68F}" type="pres">
      <dgm:prSet presAssocID="{CCA36315-032A-4634-AA30-3CE74A111D9B}" presName="matrix" presStyleCnt="0">
        <dgm:presLayoutVars>
          <dgm:chMax val="1"/>
          <dgm:dir/>
          <dgm:resizeHandles val="exact"/>
        </dgm:presLayoutVars>
      </dgm:prSet>
      <dgm:spPr/>
    </dgm:pt>
    <dgm:pt modelId="{7683CD34-8B04-4FEB-9E31-4D2287D4A6A1}" type="pres">
      <dgm:prSet presAssocID="{CCA36315-032A-4634-AA30-3CE74A111D9B}" presName="diamond" presStyleLbl="bgShp" presStyleIdx="0" presStyleCnt="1"/>
      <dgm:spPr/>
    </dgm:pt>
    <dgm:pt modelId="{DE2FC53C-9FEB-4094-81BF-BC8A8ED7A779}" type="pres">
      <dgm:prSet presAssocID="{CCA36315-032A-4634-AA30-3CE74A111D9B}" presName="quad1" presStyleLbl="node1" presStyleIdx="0" presStyleCnt="4">
        <dgm:presLayoutVars>
          <dgm:chMax val="0"/>
          <dgm:chPref val="0"/>
          <dgm:bulletEnabled val="1"/>
        </dgm:presLayoutVars>
      </dgm:prSet>
      <dgm:spPr/>
    </dgm:pt>
    <dgm:pt modelId="{87787376-1F2C-481A-BAB8-49D4598A2C3A}" type="pres">
      <dgm:prSet presAssocID="{CCA36315-032A-4634-AA30-3CE74A111D9B}" presName="quad2" presStyleLbl="node1" presStyleIdx="1" presStyleCnt="4">
        <dgm:presLayoutVars>
          <dgm:chMax val="0"/>
          <dgm:chPref val="0"/>
          <dgm:bulletEnabled val="1"/>
        </dgm:presLayoutVars>
      </dgm:prSet>
      <dgm:spPr/>
    </dgm:pt>
    <dgm:pt modelId="{48A11A5D-4C07-49D1-A7B7-C16BFE72126A}" type="pres">
      <dgm:prSet presAssocID="{CCA36315-032A-4634-AA30-3CE74A111D9B}" presName="quad3" presStyleLbl="node1" presStyleIdx="2" presStyleCnt="4">
        <dgm:presLayoutVars>
          <dgm:chMax val="0"/>
          <dgm:chPref val="0"/>
          <dgm:bulletEnabled val="1"/>
        </dgm:presLayoutVars>
      </dgm:prSet>
      <dgm:spPr/>
    </dgm:pt>
    <dgm:pt modelId="{4C6FE436-BDF0-47B8-B205-28098446EAA6}" type="pres">
      <dgm:prSet presAssocID="{CCA36315-032A-4634-AA30-3CE74A111D9B}" presName="quad4" presStyleLbl="node1" presStyleIdx="3" presStyleCnt="4">
        <dgm:presLayoutVars>
          <dgm:chMax val="0"/>
          <dgm:chPref val="0"/>
          <dgm:bulletEnabled val="1"/>
        </dgm:presLayoutVars>
      </dgm:prSet>
      <dgm:spPr/>
    </dgm:pt>
  </dgm:ptLst>
  <dgm:cxnLst>
    <dgm:cxn modelId="{3B756F01-63BA-43EB-BA3C-AD445B1C2D7B}" srcId="{CCA36315-032A-4634-AA30-3CE74A111D9B}" destId="{771C1B85-CCBF-4E61-9091-7F28BA04903C}" srcOrd="2" destOrd="0" parTransId="{02BE5F14-D89A-4AFC-8166-E45EA6772B8A}" sibTransId="{987CB63E-ABE7-4133-9ABB-563593BF1A97}"/>
    <dgm:cxn modelId="{6ABD9523-6700-4A79-B829-A55E900EA302}" srcId="{CCA36315-032A-4634-AA30-3CE74A111D9B}" destId="{92DF2AC7-5D0F-4ABC-B793-B222111598E1}" srcOrd="1" destOrd="0" parTransId="{1584DD72-9488-414F-8DB5-EB8D72A0EC6B}" sibTransId="{3A86634E-B9C0-4B76-8931-1A002E41D7BC}"/>
    <dgm:cxn modelId="{0ABAA633-EF8A-4D56-94B8-392D503B26F8}" type="presOf" srcId="{DC517848-E539-49B1-BAFE-36623075BA03}" destId="{4C6FE436-BDF0-47B8-B205-28098446EAA6}" srcOrd="0" destOrd="0" presId="urn:microsoft.com/office/officeart/2005/8/layout/matrix3"/>
    <dgm:cxn modelId="{FD035235-2566-4BFE-966B-87A914C92484}" type="presOf" srcId="{CCA36315-032A-4634-AA30-3CE74A111D9B}" destId="{3A22BBA6-4BF8-456B-9B00-D1D38CD9E68F}" srcOrd="0" destOrd="0" presId="urn:microsoft.com/office/officeart/2005/8/layout/matrix3"/>
    <dgm:cxn modelId="{EEF2AE3C-A6AC-438D-A459-2117B1296AF4}" type="presOf" srcId="{92DF2AC7-5D0F-4ABC-B793-B222111598E1}" destId="{87787376-1F2C-481A-BAB8-49D4598A2C3A}" srcOrd="0" destOrd="0" presId="urn:microsoft.com/office/officeart/2005/8/layout/matrix3"/>
    <dgm:cxn modelId="{8E5E0C66-A967-4245-94D4-446320EDAD4B}" srcId="{CCA36315-032A-4634-AA30-3CE74A111D9B}" destId="{DC517848-E539-49B1-BAFE-36623075BA03}" srcOrd="3" destOrd="0" parTransId="{9867E094-64DB-452E-8970-D78FE624560B}" sibTransId="{73CF7C94-7386-4B9E-96C7-0C868F12DE52}"/>
    <dgm:cxn modelId="{1F618E4F-5388-406C-91EC-C88885833DA2}" type="presOf" srcId="{771C1B85-CCBF-4E61-9091-7F28BA04903C}" destId="{48A11A5D-4C07-49D1-A7B7-C16BFE72126A}" srcOrd="0" destOrd="0" presId="urn:microsoft.com/office/officeart/2005/8/layout/matrix3"/>
    <dgm:cxn modelId="{DEBD38AF-30B8-4699-8558-2309806F38A1}" type="presOf" srcId="{967E5990-BF54-4638-8E4E-D2867A0B0AE8}" destId="{DE2FC53C-9FEB-4094-81BF-BC8A8ED7A779}" srcOrd="0" destOrd="0" presId="urn:microsoft.com/office/officeart/2005/8/layout/matrix3"/>
    <dgm:cxn modelId="{C43A02CE-F93A-413D-B86E-A0F0655A25AB}" srcId="{CCA36315-032A-4634-AA30-3CE74A111D9B}" destId="{967E5990-BF54-4638-8E4E-D2867A0B0AE8}" srcOrd="0" destOrd="0" parTransId="{212BE6F1-8849-44F8-BC77-AC792198E637}" sibTransId="{2D26AE2A-A84A-48F8-B7FA-1A09842B2341}"/>
    <dgm:cxn modelId="{44FDCF08-4FF3-4603-AFCB-9A3405AFB1C9}" type="presParOf" srcId="{3A22BBA6-4BF8-456B-9B00-D1D38CD9E68F}" destId="{7683CD34-8B04-4FEB-9E31-4D2287D4A6A1}" srcOrd="0" destOrd="0" presId="urn:microsoft.com/office/officeart/2005/8/layout/matrix3"/>
    <dgm:cxn modelId="{54C46B18-59DB-4520-9CA7-669AD4C5A9EB}" type="presParOf" srcId="{3A22BBA6-4BF8-456B-9B00-D1D38CD9E68F}" destId="{DE2FC53C-9FEB-4094-81BF-BC8A8ED7A779}" srcOrd="1" destOrd="0" presId="urn:microsoft.com/office/officeart/2005/8/layout/matrix3"/>
    <dgm:cxn modelId="{92834710-EFDF-4888-940E-4E81390CF595}" type="presParOf" srcId="{3A22BBA6-4BF8-456B-9B00-D1D38CD9E68F}" destId="{87787376-1F2C-481A-BAB8-49D4598A2C3A}" srcOrd="2" destOrd="0" presId="urn:microsoft.com/office/officeart/2005/8/layout/matrix3"/>
    <dgm:cxn modelId="{F9C09329-4C18-4049-A7F6-C96864F981C7}" type="presParOf" srcId="{3A22BBA6-4BF8-456B-9B00-D1D38CD9E68F}" destId="{48A11A5D-4C07-49D1-A7B7-C16BFE72126A}" srcOrd="3" destOrd="0" presId="urn:microsoft.com/office/officeart/2005/8/layout/matrix3"/>
    <dgm:cxn modelId="{CA7EB0A6-08A4-4C7F-A8E3-065F0AA1F073}" type="presParOf" srcId="{3A22BBA6-4BF8-456B-9B00-D1D38CD9E68F}" destId="{4C6FE436-BDF0-47B8-B205-28098446EAA6}"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4A19B1B-B541-4295-AB90-EFFD350CF3FF}" type="doc">
      <dgm:prSet loTypeId="urn:diagrams.loki3.com/BracketList" loCatId="officeonline" qsTypeId="urn:microsoft.com/office/officeart/2005/8/quickstyle/simple1" qsCatId="simple" csTypeId="urn:microsoft.com/office/officeart/2005/8/colors/accent1_2" csCatId="accent1" phldr="1"/>
      <dgm:spPr/>
      <dgm:t>
        <a:bodyPr/>
        <a:lstStyle/>
        <a:p>
          <a:endParaRPr lang="en-US"/>
        </a:p>
      </dgm:t>
    </dgm:pt>
    <dgm:pt modelId="{32D40717-38BB-4355-8CE2-E91EE34FBA49}">
      <dgm:prSet phldrT="[Text]" custT="1"/>
      <dgm:spPr/>
      <dgm:t>
        <a:bodyPr/>
        <a:lstStyle/>
        <a:p>
          <a:r>
            <a:rPr lang="en-US" sz="2800" dirty="0"/>
            <a:t>Product Backlog</a:t>
          </a:r>
        </a:p>
      </dgm:t>
    </dgm:pt>
    <dgm:pt modelId="{6BC80C64-783C-40E6-9A4B-9D104EE31037}" type="parTrans" cxnId="{4EB6D590-743F-44FD-833F-D92EA5E50BC8}">
      <dgm:prSet/>
      <dgm:spPr/>
      <dgm:t>
        <a:bodyPr/>
        <a:lstStyle/>
        <a:p>
          <a:endParaRPr lang="en-US"/>
        </a:p>
      </dgm:t>
    </dgm:pt>
    <dgm:pt modelId="{6BF313C9-2A05-4D90-AE7A-E858932DFD0B}" type="sibTrans" cxnId="{4EB6D590-743F-44FD-833F-D92EA5E50BC8}">
      <dgm:prSet/>
      <dgm:spPr/>
      <dgm:t>
        <a:bodyPr/>
        <a:lstStyle/>
        <a:p>
          <a:endParaRPr lang="en-US"/>
        </a:p>
      </dgm:t>
    </dgm:pt>
    <dgm:pt modelId="{67607B19-EF48-4A74-9444-D9356EDFAC27}">
      <dgm:prSet phldrT="[Text]" custT="1"/>
      <dgm:spPr/>
      <dgm:t>
        <a:bodyPr/>
        <a:lstStyle/>
        <a:p>
          <a:r>
            <a:rPr lang="en-US" sz="2800" dirty="0"/>
            <a:t>Sprint</a:t>
          </a:r>
          <a:br>
            <a:rPr lang="en-US" sz="2800" dirty="0"/>
          </a:br>
          <a:r>
            <a:rPr lang="en-US" sz="2800" dirty="0"/>
            <a:t>Backlog</a:t>
          </a:r>
        </a:p>
      </dgm:t>
    </dgm:pt>
    <dgm:pt modelId="{BC0C416C-5D91-4069-907F-90E1C924A936}" type="parTrans" cxnId="{A694053A-1972-4321-8E14-A613F9CD1B11}">
      <dgm:prSet/>
      <dgm:spPr/>
      <dgm:t>
        <a:bodyPr/>
        <a:lstStyle/>
        <a:p>
          <a:endParaRPr lang="en-US"/>
        </a:p>
      </dgm:t>
    </dgm:pt>
    <dgm:pt modelId="{DDDB8443-C322-4A94-9220-F6F343C3EEB1}" type="sibTrans" cxnId="{A694053A-1972-4321-8E14-A613F9CD1B11}">
      <dgm:prSet/>
      <dgm:spPr/>
      <dgm:t>
        <a:bodyPr/>
        <a:lstStyle/>
        <a:p>
          <a:endParaRPr lang="en-US"/>
        </a:p>
      </dgm:t>
    </dgm:pt>
    <dgm:pt modelId="{86161ACB-7F8D-4F87-A2DD-D33E4FEE5493}">
      <dgm:prSet phldrT="[Text]"/>
      <dgm:spPr/>
      <dgm:t>
        <a:bodyPr/>
        <a:lstStyle/>
        <a:p>
          <a:r>
            <a:rPr lang="en-US" dirty="0"/>
            <a:t> </a:t>
          </a:r>
        </a:p>
      </dgm:t>
    </dgm:pt>
    <dgm:pt modelId="{5CEEBA97-9DA9-4DC2-ADFB-534E1F3E37E5}" type="sibTrans" cxnId="{8681829B-DDFF-4F58-9B96-C18C7E8CE2A6}">
      <dgm:prSet/>
      <dgm:spPr/>
      <dgm:t>
        <a:bodyPr/>
        <a:lstStyle/>
        <a:p>
          <a:endParaRPr lang="en-US"/>
        </a:p>
      </dgm:t>
    </dgm:pt>
    <dgm:pt modelId="{74529CA3-2D38-4CCC-BA18-010C297D6940}" type="parTrans" cxnId="{8681829B-DDFF-4F58-9B96-C18C7E8CE2A6}">
      <dgm:prSet/>
      <dgm:spPr/>
      <dgm:t>
        <a:bodyPr/>
        <a:lstStyle/>
        <a:p>
          <a:endParaRPr lang="en-US"/>
        </a:p>
      </dgm:t>
    </dgm:pt>
    <dgm:pt modelId="{D531793D-1DAD-4DD6-B8DC-5DC3006E4426}">
      <dgm:prSet phldrT="[Text]"/>
      <dgm:spPr/>
      <dgm:t>
        <a:bodyPr/>
        <a:lstStyle/>
        <a:p>
          <a:r>
            <a:rPr lang="en-US" dirty="0"/>
            <a:t> </a:t>
          </a:r>
        </a:p>
      </dgm:t>
    </dgm:pt>
    <dgm:pt modelId="{45FA5234-1F73-4F16-9B1F-4116071ABB13}" type="sibTrans" cxnId="{FF707F01-997E-41F3-B5F0-7BF9907A3C7C}">
      <dgm:prSet/>
      <dgm:spPr/>
      <dgm:t>
        <a:bodyPr/>
        <a:lstStyle/>
        <a:p>
          <a:endParaRPr lang="en-US"/>
        </a:p>
      </dgm:t>
    </dgm:pt>
    <dgm:pt modelId="{D7FCF68E-D4B1-46A8-B703-DDE083303A52}" type="parTrans" cxnId="{FF707F01-997E-41F3-B5F0-7BF9907A3C7C}">
      <dgm:prSet/>
      <dgm:spPr/>
      <dgm:t>
        <a:bodyPr/>
        <a:lstStyle/>
        <a:p>
          <a:endParaRPr lang="en-US"/>
        </a:p>
      </dgm:t>
    </dgm:pt>
    <dgm:pt modelId="{60EA0FFF-8CE4-4ACF-9D6E-D3258D10C779}" type="pres">
      <dgm:prSet presAssocID="{04A19B1B-B541-4295-AB90-EFFD350CF3FF}" presName="Name0" presStyleCnt="0">
        <dgm:presLayoutVars>
          <dgm:dir/>
          <dgm:animLvl val="lvl"/>
          <dgm:resizeHandles val="exact"/>
        </dgm:presLayoutVars>
      </dgm:prSet>
      <dgm:spPr/>
    </dgm:pt>
    <dgm:pt modelId="{997ED41B-82D7-4191-883C-BA2FE3B80315}" type="pres">
      <dgm:prSet presAssocID="{D531793D-1DAD-4DD6-B8DC-5DC3006E4426}" presName="linNode" presStyleCnt="0"/>
      <dgm:spPr/>
    </dgm:pt>
    <dgm:pt modelId="{8D870FDB-6FDD-4629-8502-D5B246D55818}" type="pres">
      <dgm:prSet presAssocID="{D531793D-1DAD-4DD6-B8DC-5DC3006E4426}" presName="parTx" presStyleLbl="revTx" presStyleIdx="0" presStyleCnt="2">
        <dgm:presLayoutVars>
          <dgm:chMax val="1"/>
          <dgm:bulletEnabled val="1"/>
        </dgm:presLayoutVars>
      </dgm:prSet>
      <dgm:spPr/>
    </dgm:pt>
    <dgm:pt modelId="{03D672A4-5918-4923-A5AA-EDECAF7F222F}" type="pres">
      <dgm:prSet presAssocID="{D531793D-1DAD-4DD6-B8DC-5DC3006E4426}" presName="bracket" presStyleLbl="parChTrans1D1" presStyleIdx="0" presStyleCnt="2"/>
      <dgm:spPr/>
    </dgm:pt>
    <dgm:pt modelId="{E459F358-9855-4DC0-9865-2CD10C975DB1}" type="pres">
      <dgm:prSet presAssocID="{D531793D-1DAD-4DD6-B8DC-5DC3006E4426}" presName="spH" presStyleCnt="0"/>
      <dgm:spPr/>
    </dgm:pt>
    <dgm:pt modelId="{21DB8E16-54E1-4CDA-B3EB-D8B461C6C6AD}" type="pres">
      <dgm:prSet presAssocID="{D531793D-1DAD-4DD6-B8DC-5DC3006E4426}" presName="desTx" presStyleLbl="node1" presStyleIdx="0" presStyleCnt="2" custLinFactNeighborX="23878" custLinFactNeighborY="-12226">
        <dgm:presLayoutVars>
          <dgm:bulletEnabled val="1"/>
        </dgm:presLayoutVars>
      </dgm:prSet>
      <dgm:spPr/>
    </dgm:pt>
    <dgm:pt modelId="{D2CAF6FA-967E-49F7-AF6B-AE86EB05420F}" type="pres">
      <dgm:prSet presAssocID="{45FA5234-1F73-4F16-9B1F-4116071ABB13}" presName="spV" presStyleCnt="0"/>
      <dgm:spPr/>
    </dgm:pt>
    <dgm:pt modelId="{5BFACAC1-819F-4B36-9A76-96C9DF2A778C}" type="pres">
      <dgm:prSet presAssocID="{86161ACB-7F8D-4F87-A2DD-D33E4FEE5493}" presName="linNode" presStyleCnt="0"/>
      <dgm:spPr/>
    </dgm:pt>
    <dgm:pt modelId="{6396E669-6F9C-46D7-A501-795F6C0FAA53}" type="pres">
      <dgm:prSet presAssocID="{86161ACB-7F8D-4F87-A2DD-D33E4FEE5493}" presName="parTx" presStyleLbl="revTx" presStyleIdx="1" presStyleCnt="2">
        <dgm:presLayoutVars>
          <dgm:chMax val="1"/>
          <dgm:bulletEnabled val="1"/>
        </dgm:presLayoutVars>
      </dgm:prSet>
      <dgm:spPr/>
    </dgm:pt>
    <dgm:pt modelId="{0630B551-C04D-4703-9FA0-CC721AE89CCE}" type="pres">
      <dgm:prSet presAssocID="{86161ACB-7F8D-4F87-A2DD-D33E4FEE5493}" presName="bracket" presStyleLbl="parChTrans1D1" presStyleIdx="1" presStyleCnt="2"/>
      <dgm:spPr/>
    </dgm:pt>
    <dgm:pt modelId="{D9A00477-AD21-49D9-8050-26AC56397C84}" type="pres">
      <dgm:prSet presAssocID="{86161ACB-7F8D-4F87-A2DD-D33E4FEE5493}" presName="spH" presStyleCnt="0"/>
      <dgm:spPr/>
    </dgm:pt>
    <dgm:pt modelId="{56DF2AFE-2A09-4D27-8894-6A0632B76DE3}" type="pres">
      <dgm:prSet presAssocID="{86161ACB-7F8D-4F87-A2DD-D33E4FEE5493}" presName="desTx" presStyleLbl="node1" presStyleIdx="1" presStyleCnt="2">
        <dgm:presLayoutVars>
          <dgm:bulletEnabled val="1"/>
        </dgm:presLayoutVars>
      </dgm:prSet>
      <dgm:spPr/>
    </dgm:pt>
  </dgm:ptLst>
  <dgm:cxnLst>
    <dgm:cxn modelId="{FF707F01-997E-41F3-B5F0-7BF9907A3C7C}" srcId="{04A19B1B-B541-4295-AB90-EFFD350CF3FF}" destId="{D531793D-1DAD-4DD6-B8DC-5DC3006E4426}" srcOrd="0" destOrd="0" parTransId="{D7FCF68E-D4B1-46A8-B703-DDE083303A52}" sibTransId="{45FA5234-1F73-4F16-9B1F-4116071ABB13}"/>
    <dgm:cxn modelId="{AED8AC0E-BE70-4EEB-AAA5-0FF457733DF5}" type="presOf" srcId="{32D40717-38BB-4355-8CE2-E91EE34FBA49}" destId="{21DB8E16-54E1-4CDA-B3EB-D8B461C6C6AD}" srcOrd="0" destOrd="0" presId="urn:diagrams.loki3.com/BracketList"/>
    <dgm:cxn modelId="{29E09F39-2D84-4EBB-BD0E-73F273B2B67B}" type="presOf" srcId="{86161ACB-7F8D-4F87-A2DD-D33E4FEE5493}" destId="{6396E669-6F9C-46D7-A501-795F6C0FAA53}" srcOrd="0" destOrd="0" presId="urn:diagrams.loki3.com/BracketList"/>
    <dgm:cxn modelId="{A694053A-1972-4321-8E14-A613F9CD1B11}" srcId="{86161ACB-7F8D-4F87-A2DD-D33E4FEE5493}" destId="{67607B19-EF48-4A74-9444-D9356EDFAC27}" srcOrd="0" destOrd="0" parTransId="{BC0C416C-5D91-4069-907F-90E1C924A936}" sibTransId="{DDDB8443-C322-4A94-9220-F6F343C3EEB1}"/>
    <dgm:cxn modelId="{D2863E43-4DE9-4038-BCB6-A39ED26DE7A4}" type="presOf" srcId="{67607B19-EF48-4A74-9444-D9356EDFAC27}" destId="{56DF2AFE-2A09-4D27-8894-6A0632B76DE3}" srcOrd="0" destOrd="0" presId="urn:diagrams.loki3.com/BracketList"/>
    <dgm:cxn modelId="{BB5CB171-B554-44DC-952E-CAA1CB69210F}" type="presOf" srcId="{04A19B1B-B541-4295-AB90-EFFD350CF3FF}" destId="{60EA0FFF-8CE4-4ACF-9D6E-D3258D10C779}" srcOrd="0" destOrd="0" presId="urn:diagrams.loki3.com/BracketList"/>
    <dgm:cxn modelId="{4EB6D590-743F-44FD-833F-D92EA5E50BC8}" srcId="{D531793D-1DAD-4DD6-B8DC-5DC3006E4426}" destId="{32D40717-38BB-4355-8CE2-E91EE34FBA49}" srcOrd="0" destOrd="0" parTransId="{6BC80C64-783C-40E6-9A4B-9D104EE31037}" sibTransId="{6BF313C9-2A05-4D90-AE7A-E858932DFD0B}"/>
    <dgm:cxn modelId="{8681829B-DDFF-4F58-9B96-C18C7E8CE2A6}" srcId="{04A19B1B-B541-4295-AB90-EFFD350CF3FF}" destId="{86161ACB-7F8D-4F87-A2DD-D33E4FEE5493}" srcOrd="1" destOrd="0" parTransId="{74529CA3-2D38-4CCC-BA18-010C297D6940}" sibTransId="{5CEEBA97-9DA9-4DC2-ADFB-534E1F3E37E5}"/>
    <dgm:cxn modelId="{5FBA6FAC-FF69-49D2-A2C6-7CEAE338561A}" type="presOf" srcId="{D531793D-1DAD-4DD6-B8DC-5DC3006E4426}" destId="{8D870FDB-6FDD-4629-8502-D5B246D55818}" srcOrd="0" destOrd="0" presId="urn:diagrams.loki3.com/BracketList"/>
    <dgm:cxn modelId="{DDE48C2D-9E20-49A4-A1DE-0306605E602C}" type="presParOf" srcId="{60EA0FFF-8CE4-4ACF-9D6E-D3258D10C779}" destId="{997ED41B-82D7-4191-883C-BA2FE3B80315}" srcOrd="0" destOrd="0" presId="urn:diagrams.loki3.com/BracketList"/>
    <dgm:cxn modelId="{18035955-405F-44DE-B47F-06E1EA42A229}" type="presParOf" srcId="{997ED41B-82D7-4191-883C-BA2FE3B80315}" destId="{8D870FDB-6FDD-4629-8502-D5B246D55818}" srcOrd="0" destOrd="0" presId="urn:diagrams.loki3.com/BracketList"/>
    <dgm:cxn modelId="{8AE89B5A-C955-4FEA-86A3-64BC64901E24}" type="presParOf" srcId="{997ED41B-82D7-4191-883C-BA2FE3B80315}" destId="{03D672A4-5918-4923-A5AA-EDECAF7F222F}" srcOrd="1" destOrd="0" presId="urn:diagrams.loki3.com/BracketList"/>
    <dgm:cxn modelId="{30AF140A-A6B6-496C-A5F0-0C5BB8E9DEE7}" type="presParOf" srcId="{997ED41B-82D7-4191-883C-BA2FE3B80315}" destId="{E459F358-9855-4DC0-9865-2CD10C975DB1}" srcOrd="2" destOrd="0" presId="urn:diagrams.loki3.com/BracketList"/>
    <dgm:cxn modelId="{1A70628D-EA5A-40DB-AF20-418450BB5CAC}" type="presParOf" srcId="{997ED41B-82D7-4191-883C-BA2FE3B80315}" destId="{21DB8E16-54E1-4CDA-B3EB-D8B461C6C6AD}" srcOrd="3" destOrd="0" presId="urn:diagrams.loki3.com/BracketList"/>
    <dgm:cxn modelId="{7B48750D-C76F-447C-8CE5-77399C59C540}" type="presParOf" srcId="{60EA0FFF-8CE4-4ACF-9D6E-D3258D10C779}" destId="{D2CAF6FA-967E-49F7-AF6B-AE86EB05420F}" srcOrd="1" destOrd="0" presId="urn:diagrams.loki3.com/BracketList"/>
    <dgm:cxn modelId="{CF7C05F2-D899-45F0-A143-C405B1E8B2F1}" type="presParOf" srcId="{60EA0FFF-8CE4-4ACF-9D6E-D3258D10C779}" destId="{5BFACAC1-819F-4B36-9A76-96C9DF2A778C}" srcOrd="2" destOrd="0" presId="urn:diagrams.loki3.com/BracketList"/>
    <dgm:cxn modelId="{664F2485-192D-4D7C-9434-10DEAB1D4B36}" type="presParOf" srcId="{5BFACAC1-819F-4B36-9A76-96C9DF2A778C}" destId="{6396E669-6F9C-46D7-A501-795F6C0FAA53}" srcOrd="0" destOrd="0" presId="urn:diagrams.loki3.com/BracketList"/>
    <dgm:cxn modelId="{F1726BA3-80DC-42F0-B977-8F52A2F352E8}" type="presParOf" srcId="{5BFACAC1-819F-4B36-9A76-96C9DF2A778C}" destId="{0630B551-C04D-4703-9FA0-CC721AE89CCE}" srcOrd="1" destOrd="0" presId="urn:diagrams.loki3.com/BracketList"/>
    <dgm:cxn modelId="{8DADB4D2-3983-4E94-B01A-95208F6B235C}" type="presParOf" srcId="{5BFACAC1-819F-4B36-9A76-96C9DF2A778C}" destId="{D9A00477-AD21-49D9-8050-26AC56397C84}" srcOrd="2" destOrd="0" presId="urn:diagrams.loki3.com/BracketList"/>
    <dgm:cxn modelId="{1F6375A5-ED70-4D4A-BD5B-3DDE6E584CF5}" type="presParOf" srcId="{5BFACAC1-819F-4B36-9A76-96C9DF2A778C}" destId="{56DF2AFE-2A09-4D27-8894-6A0632B76DE3}" srcOrd="3" destOrd="0" presId="urn:diagrams.loki3.com/Bracket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813AD9-74F8-4E7C-9D77-8E9698558B1B}">
      <dsp:nvSpPr>
        <dsp:cNvPr id="0" name=""/>
        <dsp:cNvSpPr/>
      </dsp:nvSpPr>
      <dsp:spPr>
        <a:xfrm>
          <a:off x="3652125" y="2088974"/>
          <a:ext cx="1587388" cy="158738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Scrum Master</a:t>
          </a:r>
        </a:p>
      </dsp:txBody>
      <dsp:txXfrm>
        <a:off x="3884593" y="2321442"/>
        <a:ext cx="1122452" cy="1122452"/>
      </dsp:txXfrm>
    </dsp:sp>
    <dsp:sp modelId="{FBA021B5-F335-406F-BB6B-EC6625CE1C53}">
      <dsp:nvSpPr>
        <dsp:cNvPr id="0" name=""/>
        <dsp:cNvSpPr/>
      </dsp:nvSpPr>
      <dsp:spPr>
        <a:xfrm rot="16200000">
          <a:off x="4205996" y="1833083"/>
          <a:ext cx="479646" cy="32134"/>
        </a:xfrm>
        <a:custGeom>
          <a:avLst/>
          <a:gdLst/>
          <a:ahLst/>
          <a:cxnLst/>
          <a:rect l="0" t="0" r="0" b="0"/>
          <a:pathLst>
            <a:path>
              <a:moveTo>
                <a:pt x="0" y="16067"/>
              </a:moveTo>
              <a:lnTo>
                <a:pt x="479646" y="1606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33828" y="1837159"/>
        <a:ext cx="23982" cy="23982"/>
      </dsp:txXfrm>
    </dsp:sp>
    <dsp:sp modelId="{38ECD57C-A609-4AA9-9B4E-234DE3241AF7}">
      <dsp:nvSpPr>
        <dsp:cNvPr id="0" name=""/>
        <dsp:cNvSpPr/>
      </dsp:nvSpPr>
      <dsp:spPr>
        <a:xfrm>
          <a:off x="3652125" y="21939"/>
          <a:ext cx="1587388" cy="158738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Product Owner</a:t>
          </a:r>
        </a:p>
      </dsp:txBody>
      <dsp:txXfrm>
        <a:off x="3884593" y="254407"/>
        <a:ext cx="1122452" cy="1122452"/>
      </dsp:txXfrm>
    </dsp:sp>
    <dsp:sp modelId="{43A723AC-85B0-4AA6-98DB-F30BCA8CE6A5}">
      <dsp:nvSpPr>
        <dsp:cNvPr id="0" name=""/>
        <dsp:cNvSpPr/>
      </dsp:nvSpPr>
      <dsp:spPr>
        <a:xfrm>
          <a:off x="5239513" y="2866601"/>
          <a:ext cx="479646" cy="32134"/>
        </a:xfrm>
        <a:custGeom>
          <a:avLst/>
          <a:gdLst/>
          <a:ahLst/>
          <a:cxnLst/>
          <a:rect l="0" t="0" r="0" b="0"/>
          <a:pathLst>
            <a:path>
              <a:moveTo>
                <a:pt x="0" y="16067"/>
              </a:moveTo>
              <a:lnTo>
                <a:pt x="479646" y="1606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67345" y="2870677"/>
        <a:ext cx="23982" cy="23982"/>
      </dsp:txXfrm>
    </dsp:sp>
    <dsp:sp modelId="{5F594E7B-EC5F-4B91-8D3A-585BE7D432C8}">
      <dsp:nvSpPr>
        <dsp:cNvPr id="0" name=""/>
        <dsp:cNvSpPr/>
      </dsp:nvSpPr>
      <dsp:spPr>
        <a:xfrm>
          <a:off x="5719160" y="2088974"/>
          <a:ext cx="1587388" cy="158738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Developer</a:t>
          </a:r>
        </a:p>
      </dsp:txBody>
      <dsp:txXfrm>
        <a:off x="5951628" y="2321442"/>
        <a:ext cx="1122452" cy="1122452"/>
      </dsp:txXfrm>
    </dsp:sp>
    <dsp:sp modelId="{292F0E3B-FA83-411F-BFFF-D79920BFBC67}">
      <dsp:nvSpPr>
        <dsp:cNvPr id="0" name=""/>
        <dsp:cNvSpPr/>
      </dsp:nvSpPr>
      <dsp:spPr>
        <a:xfrm rot="5400000">
          <a:off x="4205996" y="3900118"/>
          <a:ext cx="479646" cy="32134"/>
        </a:xfrm>
        <a:custGeom>
          <a:avLst/>
          <a:gdLst/>
          <a:ahLst/>
          <a:cxnLst/>
          <a:rect l="0" t="0" r="0" b="0"/>
          <a:pathLst>
            <a:path>
              <a:moveTo>
                <a:pt x="0" y="16067"/>
              </a:moveTo>
              <a:lnTo>
                <a:pt x="479646" y="1606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33828" y="3904194"/>
        <a:ext cx="23982" cy="23982"/>
      </dsp:txXfrm>
    </dsp:sp>
    <dsp:sp modelId="{58C4EABA-0F16-4464-9504-C8B964E30C6A}">
      <dsp:nvSpPr>
        <dsp:cNvPr id="0" name=""/>
        <dsp:cNvSpPr/>
      </dsp:nvSpPr>
      <dsp:spPr>
        <a:xfrm>
          <a:off x="3652125" y="4156009"/>
          <a:ext cx="1587388" cy="158738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Tester</a:t>
          </a:r>
        </a:p>
      </dsp:txBody>
      <dsp:txXfrm>
        <a:off x="3884593" y="4388477"/>
        <a:ext cx="1122452" cy="1122452"/>
      </dsp:txXfrm>
    </dsp:sp>
    <dsp:sp modelId="{7AB36810-2113-4CF1-AC6A-EC818D57FFDD}">
      <dsp:nvSpPr>
        <dsp:cNvPr id="0" name=""/>
        <dsp:cNvSpPr/>
      </dsp:nvSpPr>
      <dsp:spPr>
        <a:xfrm rot="10800000">
          <a:off x="3172478" y="2866601"/>
          <a:ext cx="479646" cy="32134"/>
        </a:xfrm>
        <a:custGeom>
          <a:avLst/>
          <a:gdLst/>
          <a:ahLst/>
          <a:cxnLst/>
          <a:rect l="0" t="0" r="0" b="0"/>
          <a:pathLst>
            <a:path>
              <a:moveTo>
                <a:pt x="0" y="16067"/>
              </a:moveTo>
              <a:lnTo>
                <a:pt x="479646" y="1606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400310" y="2870677"/>
        <a:ext cx="23982" cy="23982"/>
      </dsp:txXfrm>
    </dsp:sp>
    <dsp:sp modelId="{BF33B03D-DBC6-424B-A080-F4EAA02E8595}">
      <dsp:nvSpPr>
        <dsp:cNvPr id="0" name=""/>
        <dsp:cNvSpPr/>
      </dsp:nvSpPr>
      <dsp:spPr>
        <a:xfrm>
          <a:off x="1585090" y="2088974"/>
          <a:ext cx="1587388" cy="158738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Client</a:t>
          </a:r>
        </a:p>
      </dsp:txBody>
      <dsp:txXfrm>
        <a:off x="1817558" y="2321442"/>
        <a:ext cx="1122452" cy="11224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83CD34-8B04-4FEB-9E31-4D2287D4A6A1}">
      <dsp:nvSpPr>
        <dsp:cNvPr id="0" name=""/>
        <dsp:cNvSpPr/>
      </dsp:nvSpPr>
      <dsp:spPr>
        <a:xfrm>
          <a:off x="904425" y="0"/>
          <a:ext cx="4265288" cy="4265288"/>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2FC53C-9FEB-4094-81BF-BC8A8ED7A779}">
      <dsp:nvSpPr>
        <dsp:cNvPr id="0" name=""/>
        <dsp:cNvSpPr/>
      </dsp:nvSpPr>
      <dsp:spPr>
        <a:xfrm>
          <a:off x="1309627" y="405202"/>
          <a:ext cx="1663462" cy="16634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Daily Scrum</a:t>
          </a:r>
        </a:p>
      </dsp:txBody>
      <dsp:txXfrm>
        <a:off x="1390831" y="486406"/>
        <a:ext cx="1501054" cy="1501054"/>
      </dsp:txXfrm>
    </dsp:sp>
    <dsp:sp modelId="{87787376-1F2C-481A-BAB8-49D4598A2C3A}">
      <dsp:nvSpPr>
        <dsp:cNvPr id="0" name=""/>
        <dsp:cNvSpPr/>
      </dsp:nvSpPr>
      <dsp:spPr>
        <a:xfrm>
          <a:off x="3101048" y="405202"/>
          <a:ext cx="1663462" cy="16634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Sprint Planning</a:t>
          </a:r>
        </a:p>
      </dsp:txBody>
      <dsp:txXfrm>
        <a:off x="3182252" y="486406"/>
        <a:ext cx="1501054" cy="1501054"/>
      </dsp:txXfrm>
    </dsp:sp>
    <dsp:sp modelId="{48A11A5D-4C07-49D1-A7B7-C16BFE72126A}">
      <dsp:nvSpPr>
        <dsp:cNvPr id="0" name=""/>
        <dsp:cNvSpPr/>
      </dsp:nvSpPr>
      <dsp:spPr>
        <a:xfrm>
          <a:off x="1309627" y="2196623"/>
          <a:ext cx="1663462" cy="16634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Sprint Review</a:t>
          </a:r>
        </a:p>
      </dsp:txBody>
      <dsp:txXfrm>
        <a:off x="1390831" y="2277827"/>
        <a:ext cx="1501054" cy="1501054"/>
      </dsp:txXfrm>
    </dsp:sp>
    <dsp:sp modelId="{4C6FE436-BDF0-47B8-B205-28098446EAA6}">
      <dsp:nvSpPr>
        <dsp:cNvPr id="0" name=""/>
        <dsp:cNvSpPr/>
      </dsp:nvSpPr>
      <dsp:spPr>
        <a:xfrm>
          <a:off x="3101048" y="2196623"/>
          <a:ext cx="1663462" cy="16634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Sprint Retrospective</a:t>
          </a:r>
        </a:p>
      </dsp:txBody>
      <dsp:txXfrm>
        <a:off x="3182252" y="2277827"/>
        <a:ext cx="1501054" cy="150105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870FDB-6FDD-4629-8502-D5B246D55818}">
      <dsp:nvSpPr>
        <dsp:cNvPr id="0" name=""/>
        <dsp:cNvSpPr/>
      </dsp:nvSpPr>
      <dsp:spPr>
        <a:xfrm>
          <a:off x="0" y="33967"/>
          <a:ext cx="1013951" cy="128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62280" tIns="165100" rIns="462280" bIns="165100" numCol="1" spcCol="1270" anchor="ctr" anchorCtr="0">
          <a:noAutofit/>
        </a:bodyPr>
        <a:lstStyle/>
        <a:p>
          <a:pPr marL="0" lvl="0" indent="0" algn="r" defTabSz="2889250">
            <a:lnSpc>
              <a:spcPct val="90000"/>
            </a:lnSpc>
            <a:spcBef>
              <a:spcPct val="0"/>
            </a:spcBef>
            <a:spcAft>
              <a:spcPct val="35000"/>
            </a:spcAft>
            <a:buNone/>
          </a:pPr>
          <a:r>
            <a:rPr lang="en-US" sz="6500" kern="1200" dirty="0"/>
            <a:t> </a:t>
          </a:r>
        </a:p>
      </dsp:txBody>
      <dsp:txXfrm>
        <a:off x="0" y="33967"/>
        <a:ext cx="1013951" cy="1287000"/>
      </dsp:txXfrm>
    </dsp:sp>
    <dsp:sp modelId="{03D672A4-5918-4923-A5AA-EDECAF7F222F}">
      <dsp:nvSpPr>
        <dsp:cNvPr id="0" name=""/>
        <dsp:cNvSpPr/>
      </dsp:nvSpPr>
      <dsp:spPr>
        <a:xfrm>
          <a:off x="1013951" y="33967"/>
          <a:ext cx="202790" cy="1287000"/>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1DB8E16-54E1-4CDA-B3EB-D8B461C6C6AD}">
      <dsp:nvSpPr>
        <dsp:cNvPr id="0" name=""/>
        <dsp:cNvSpPr/>
      </dsp:nvSpPr>
      <dsp:spPr>
        <a:xfrm>
          <a:off x="1297858" y="0"/>
          <a:ext cx="2757948" cy="128700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t>Product Backlog</a:t>
          </a:r>
        </a:p>
      </dsp:txBody>
      <dsp:txXfrm>
        <a:off x="1297858" y="0"/>
        <a:ext cx="2757948" cy="1287000"/>
      </dsp:txXfrm>
    </dsp:sp>
    <dsp:sp modelId="{6396E669-6F9C-46D7-A501-795F6C0FAA53}">
      <dsp:nvSpPr>
        <dsp:cNvPr id="0" name=""/>
        <dsp:cNvSpPr/>
      </dsp:nvSpPr>
      <dsp:spPr>
        <a:xfrm>
          <a:off x="0" y="1554967"/>
          <a:ext cx="1013951" cy="128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62280" tIns="165100" rIns="462280" bIns="165100" numCol="1" spcCol="1270" anchor="ctr" anchorCtr="0">
          <a:noAutofit/>
        </a:bodyPr>
        <a:lstStyle/>
        <a:p>
          <a:pPr marL="0" lvl="0" indent="0" algn="r" defTabSz="2889250">
            <a:lnSpc>
              <a:spcPct val="90000"/>
            </a:lnSpc>
            <a:spcBef>
              <a:spcPct val="0"/>
            </a:spcBef>
            <a:spcAft>
              <a:spcPct val="35000"/>
            </a:spcAft>
            <a:buNone/>
          </a:pPr>
          <a:r>
            <a:rPr lang="en-US" sz="6500" kern="1200" dirty="0"/>
            <a:t> </a:t>
          </a:r>
        </a:p>
      </dsp:txBody>
      <dsp:txXfrm>
        <a:off x="0" y="1554967"/>
        <a:ext cx="1013951" cy="1287000"/>
      </dsp:txXfrm>
    </dsp:sp>
    <dsp:sp modelId="{0630B551-C04D-4703-9FA0-CC721AE89CCE}">
      <dsp:nvSpPr>
        <dsp:cNvPr id="0" name=""/>
        <dsp:cNvSpPr/>
      </dsp:nvSpPr>
      <dsp:spPr>
        <a:xfrm>
          <a:off x="1013951" y="1554967"/>
          <a:ext cx="202790" cy="1287000"/>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6DF2AFE-2A09-4D27-8894-6A0632B76DE3}">
      <dsp:nvSpPr>
        <dsp:cNvPr id="0" name=""/>
        <dsp:cNvSpPr/>
      </dsp:nvSpPr>
      <dsp:spPr>
        <a:xfrm>
          <a:off x="1297858" y="1554967"/>
          <a:ext cx="2757948" cy="128700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t>Sprint</a:t>
          </a:r>
          <a:br>
            <a:rPr lang="en-US" sz="2800" kern="1200" dirty="0"/>
          </a:br>
          <a:r>
            <a:rPr lang="en-US" sz="2800" kern="1200" dirty="0"/>
            <a:t>Backlog</a:t>
          </a:r>
        </a:p>
      </dsp:txBody>
      <dsp:txXfrm>
        <a:off x="1297858" y="1554967"/>
        <a:ext cx="2757948" cy="1287000"/>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10/18/2024</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10/18/2024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a:t>
            </a:fld>
            <a:endParaRPr lang="en-US" dirty="0"/>
          </a:p>
        </p:txBody>
      </p:sp>
    </p:spTree>
    <p:extLst>
      <p:ext uri="{BB962C8B-B14F-4D97-AF65-F5344CB8AC3E}">
        <p14:creationId xmlns:p14="http://schemas.microsoft.com/office/powerpoint/2010/main" val="4040438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3</a:t>
            </a:fld>
            <a:endParaRPr lang="en-US" dirty="0"/>
          </a:p>
        </p:txBody>
      </p:sp>
    </p:spTree>
    <p:extLst>
      <p:ext uri="{BB962C8B-B14F-4D97-AF65-F5344CB8AC3E}">
        <p14:creationId xmlns:p14="http://schemas.microsoft.com/office/powerpoint/2010/main" val="2182522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4</a:t>
            </a:fld>
            <a:endParaRPr lang="en-US" dirty="0"/>
          </a:p>
        </p:txBody>
      </p:sp>
    </p:spTree>
    <p:extLst>
      <p:ext uri="{BB962C8B-B14F-4D97-AF65-F5344CB8AC3E}">
        <p14:creationId xmlns:p14="http://schemas.microsoft.com/office/powerpoint/2010/main" val="2843954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6</a:t>
            </a:fld>
            <a:endParaRPr lang="en-US" dirty="0"/>
          </a:p>
        </p:txBody>
      </p:sp>
    </p:spTree>
    <p:extLst>
      <p:ext uri="{BB962C8B-B14F-4D97-AF65-F5344CB8AC3E}">
        <p14:creationId xmlns:p14="http://schemas.microsoft.com/office/powerpoint/2010/main" val="2090324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7</a:t>
            </a:fld>
            <a:endParaRPr lang="en-US" dirty="0"/>
          </a:p>
        </p:txBody>
      </p:sp>
    </p:spTree>
    <p:extLst>
      <p:ext uri="{BB962C8B-B14F-4D97-AF65-F5344CB8AC3E}">
        <p14:creationId xmlns:p14="http://schemas.microsoft.com/office/powerpoint/2010/main" val="8409867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9</a:t>
            </a:fld>
            <a:endParaRPr lang="en-US" dirty="0"/>
          </a:p>
        </p:txBody>
      </p:sp>
    </p:spTree>
    <p:extLst>
      <p:ext uri="{BB962C8B-B14F-4D97-AF65-F5344CB8AC3E}">
        <p14:creationId xmlns:p14="http://schemas.microsoft.com/office/powerpoint/2010/main" val="3459372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10</a:t>
            </a:fld>
            <a:endParaRPr lang="en-US" dirty="0"/>
          </a:p>
        </p:txBody>
      </p:sp>
    </p:spTree>
    <p:extLst>
      <p:ext uri="{BB962C8B-B14F-4D97-AF65-F5344CB8AC3E}">
        <p14:creationId xmlns:p14="http://schemas.microsoft.com/office/powerpoint/2010/main" val="2639470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11</a:t>
            </a:fld>
            <a:endParaRPr lang="en-US" dirty="0"/>
          </a:p>
        </p:txBody>
      </p:sp>
    </p:spTree>
    <p:extLst>
      <p:ext uri="{BB962C8B-B14F-4D97-AF65-F5344CB8AC3E}">
        <p14:creationId xmlns:p14="http://schemas.microsoft.com/office/powerpoint/2010/main" val="14001162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13</a:t>
            </a:fld>
            <a:endParaRPr lang="en-US" dirty="0"/>
          </a:p>
        </p:txBody>
      </p:sp>
    </p:spTree>
    <p:extLst>
      <p:ext uri="{BB962C8B-B14F-4D97-AF65-F5344CB8AC3E}">
        <p14:creationId xmlns:p14="http://schemas.microsoft.com/office/powerpoint/2010/main" val="18932739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14</a:t>
            </a:fld>
            <a:endParaRPr lang="en-US" dirty="0"/>
          </a:p>
        </p:txBody>
      </p:sp>
    </p:spTree>
    <p:extLst>
      <p:ext uri="{BB962C8B-B14F-4D97-AF65-F5344CB8AC3E}">
        <p14:creationId xmlns:p14="http://schemas.microsoft.com/office/powerpoint/2010/main" val="23755521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17</a:t>
            </a:fld>
            <a:endParaRPr lang="en-US" dirty="0"/>
          </a:p>
        </p:txBody>
      </p:sp>
    </p:spTree>
    <p:extLst>
      <p:ext uri="{BB962C8B-B14F-4D97-AF65-F5344CB8AC3E}">
        <p14:creationId xmlns:p14="http://schemas.microsoft.com/office/powerpoint/2010/main" val="6265600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18</a:t>
            </a:fld>
            <a:endParaRPr lang="en-US" dirty="0"/>
          </a:p>
        </p:txBody>
      </p:sp>
    </p:spTree>
    <p:extLst>
      <p:ext uri="{BB962C8B-B14F-4D97-AF65-F5344CB8AC3E}">
        <p14:creationId xmlns:p14="http://schemas.microsoft.com/office/powerpoint/2010/main" val="1025326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19</a:t>
            </a:fld>
            <a:endParaRPr lang="en-US" dirty="0"/>
          </a:p>
        </p:txBody>
      </p:sp>
    </p:spTree>
    <p:extLst>
      <p:ext uri="{BB962C8B-B14F-4D97-AF65-F5344CB8AC3E}">
        <p14:creationId xmlns:p14="http://schemas.microsoft.com/office/powerpoint/2010/main" val="7026838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a:t>Click icon to add table</a:t>
            </a:r>
            <a:endParaRPr lang="en-US" dirty="0"/>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microsoft.com/office/2007/relationships/hdphoto" Target="../media/hdphoto2.wdp"/></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20.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6441918" y="3329790"/>
            <a:ext cx="4941771" cy="3200400"/>
          </a:xfrm>
        </p:spPr>
        <p:txBody>
          <a:bodyPr anchor="ctr"/>
          <a:lstStyle/>
          <a:p>
            <a:r>
              <a:rPr lang="en-US" dirty="0"/>
              <a:t>INTRODUCING AGILE</a:t>
            </a:r>
          </a:p>
        </p:txBody>
      </p:sp>
      <p:sp>
        <p:nvSpPr>
          <p:cNvPr id="3" name="TextBox 2">
            <a:extLst>
              <a:ext uri="{FF2B5EF4-FFF2-40B4-BE49-F238E27FC236}">
                <a16:creationId xmlns:a16="http://schemas.microsoft.com/office/drawing/2014/main" id="{B352F36A-CDAD-FA7B-66F6-9101EF29A755}"/>
              </a:ext>
            </a:extLst>
          </p:cNvPr>
          <p:cNvSpPr txBox="1"/>
          <p:nvPr/>
        </p:nvSpPr>
        <p:spPr>
          <a:xfrm>
            <a:off x="8391832" y="5781367"/>
            <a:ext cx="3657600" cy="923330"/>
          </a:xfrm>
          <a:prstGeom prst="rect">
            <a:avLst/>
          </a:prstGeom>
          <a:noFill/>
        </p:spPr>
        <p:txBody>
          <a:bodyPr wrap="square" rtlCol="0">
            <a:spAutoFit/>
          </a:bodyPr>
          <a:lstStyle/>
          <a:p>
            <a:pPr algn="r"/>
            <a:r>
              <a:rPr lang="en-US" dirty="0">
                <a:solidFill>
                  <a:schemeClr val="bg1">
                    <a:lumMod val="75000"/>
                  </a:schemeClr>
                </a:solidFill>
              </a:rPr>
              <a:t>Prepared by Diane Goy</a:t>
            </a:r>
          </a:p>
          <a:p>
            <a:pPr algn="r"/>
            <a:r>
              <a:rPr lang="en-US" dirty="0">
                <a:solidFill>
                  <a:schemeClr val="bg1">
                    <a:lumMod val="75000"/>
                  </a:schemeClr>
                </a:solidFill>
              </a:rPr>
              <a:t>Prepared for Leadership Team</a:t>
            </a:r>
          </a:p>
          <a:p>
            <a:pPr algn="r"/>
            <a:r>
              <a:rPr lang="en-US" dirty="0">
                <a:solidFill>
                  <a:schemeClr val="bg1">
                    <a:lumMod val="75000"/>
                  </a:schemeClr>
                </a:solidFill>
              </a:rPr>
              <a:t>OCTOBER 2024</a:t>
            </a:r>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F5859-10C9-4588-9727-B9362E26C29D}"/>
              </a:ext>
            </a:extLst>
          </p:cNvPr>
          <p:cNvSpPr>
            <a:spLocks noGrp="1"/>
          </p:cNvSpPr>
          <p:nvPr>
            <p:ph type="title"/>
          </p:nvPr>
        </p:nvSpPr>
        <p:spPr>
          <a:xfrm>
            <a:off x="1333500" y="1020445"/>
            <a:ext cx="2895600" cy="1325563"/>
          </a:xfrm>
        </p:spPr>
        <p:txBody>
          <a:bodyPr/>
          <a:lstStyle/>
          <a:p>
            <a:r>
              <a:rPr lang="en-US" dirty="0"/>
              <a:t>AGENDA</a:t>
            </a:r>
          </a:p>
        </p:txBody>
      </p:sp>
      <p:sp>
        <p:nvSpPr>
          <p:cNvPr id="3" name="Content Placeholder 2">
            <a:extLst>
              <a:ext uri="{FF2B5EF4-FFF2-40B4-BE49-F238E27FC236}">
                <a16:creationId xmlns:a16="http://schemas.microsoft.com/office/drawing/2014/main" id="{5671D7E5-EF66-4BCD-8DAA-E9061157F0BE}"/>
              </a:ext>
            </a:extLst>
          </p:cNvPr>
          <p:cNvSpPr>
            <a:spLocks noGrp="1"/>
          </p:cNvSpPr>
          <p:nvPr>
            <p:ph idx="1"/>
          </p:nvPr>
        </p:nvSpPr>
        <p:spPr>
          <a:xfrm>
            <a:off x="1333500" y="2674013"/>
            <a:ext cx="2895600" cy="3269589"/>
          </a:xfrm>
        </p:spPr>
        <p:txBody>
          <a:bodyPr>
            <a:normAutofit/>
          </a:bodyPr>
          <a:lstStyle/>
          <a:p>
            <a:r>
              <a:rPr lang="en-US" dirty="0"/>
              <a:t>What is Agile?</a:t>
            </a:r>
          </a:p>
          <a:p>
            <a:r>
              <a:rPr lang="en-US" dirty="0"/>
              <a:t>Agile Roles</a:t>
            </a:r>
          </a:p>
          <a:p>
            <a:r>
              <a:rPr lang="en-US" dirty="0"/>
              <a:t>Agile Phases</a:t>
            </a:r>
          </a:p>
          <a:p>
            <a:r>
              <a:rPr lang="en-US" dirty="0"/>
              <a:t>What is Waterfall?</a:t>
            </a:r>
          </a:p>
          <a:p>
            <a:r>
              <a:rPr lang="en-US" dirty="0"/>
              <a:t>Agile vs Waterfall</a:t>
            </a:r>
          </a:p>
          <a:p>
            <a:r>
              <a:rPr lang="en-US" dirty="0"/>
              <a:t>Conclusion</a:t>
            </a:r>
          </a:p>
        </p:txBody>
      </p:sp>
      <p:sp>
        <p:nvSpPr>
          <p:cNvPr id="5" name="Slide Number Placeholder 5">
            <a:extLst>
              <a:ext uri="{FF2B5EF4-FFF2-40B4-BE49-F238E27FC236}">
                <a16:creationId xmlns:a16="http://schemas.microsoft.com/office/drawing/2014/main" id="{B02A8827-B1A1-2D2F-D6DD-E886B886C43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2</a:t>
            </a:fld>
            <a:endParaRPr lang="en-US" dirty="0"/>
          </a:p>
        </p:txBody>
      </p:sp>
    </p:spTree>
    <p:extLst>
      <p:ext uri="{BB962C8B-B14F-4D97-AF65-F5344CB8AC3E}">
        <p14:creationId xmlns:p14="http://schemas.microsoft.com/office/powerpoint/2010/main" val="1713219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8DBD1-DB29-D44F-FD5A-3071BB37EF37}"/>
              </a:ext>
            </a:extLst>
          </p:cNvPr>
          <p:cNvSpPr>
            <a:spLocks noGrp="1"/>
          </p:cNvSpPr>
          <p:nvPr>
            <p:ph type="ctrTitle"/>
          </p:nvPr>
        </p:nvSpPr>
        <p:spPr>
          <a:xfrm>
            <a:off x="6991350" y="487018"/>
            <a:ext cx="4179570" cy="3377354"/>
          </a:xfrm>
        </p:spPr>
        <p:txBody>
          <a:bodyPr/>
          <a:lstStyle/>
          <a:p>
            <a:r>
              <a:rPr lang="en-US" dirty="0"/>
              <a:t>What is agile?</a:t>
            </a:r>
          </a:p>
        </p:txBody>
      </p:sp>
    </p:spTree>
    <p:extLst>
      <p:ext uri="{BB962C8B-B14F-4D97-AF65-F5344CB8AC3E}">
        <p14:creationId xmlns:p14="http://schemas.microsoft.com/office/powerpoint/2010/main" val="608796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22318" y="268360"/>
            <a:ext cx="7288282" cy="2121177"/>
          </a:xfrm>
        </p:spPr>
        <p:txBody>
          <a:bodyPr>
            <a:normAutofit/>
          </a:bodyPr>
          <a:lstStyle/>
          <a:p>
            <a:r>
              <a:rPr lang="en-US" dirty="0"/>
              <a:t>Agile at a glance</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1322388" y="2763078"/>
            <a:ext cx="7288212" cy="3407051"/>
          </a:xfrm>
        </p:spPr>
        <p:txBody>
          <a:bodyPr>
            <a:normAutofit/>
          </a:bodyPr>
          <a:lstStyle/>
          <a:p>
            <a:pPr lvl="1"/>
            <a:r>
              <a:rPr lang="en-US" dirty="0"/>
              <a:t>An iterative and incremental approach to software development that emphasizes flexibility, collaboration, and customer feedback throughout the software development lifecycle (</a:t>
            </a:r>
            <a:r>
              <a:rPr lang="en-US" dirty="0" err="1"/>
              <a:t>Spundak</a:t>
            </a:r>
            <a:r>
              <a:rPr lang="en-US" dirty="0"/>
              <a:t> et al., 2020).</a:t>
            </a:r>
          </a:p>
          <a:p>
            <a:pPr lvl="1"/>
            <a:r>
              <a:rPr lang="en-US" dirty="0"/>
              <a:t>Agile values:</a:t>
            </a:r>
          </a:p>
          <a:p>
            <a:pPr lvl="2">
              <a:buFont typeface="Wingdings" panose="05000000000000000000" pitchFamily="2" charset="2"/>
              <a:buChar char="v"/>
            </a:pPr>
            <a:r>
              <a:rPr lang="en-US" dirty="0"/>
              <a:t>Individuals and interactions over processes and tools</a:t>
            </a:r>
          </a:p>
          <a:p>
            <a:pPr lvl="2">
              <a:buFont typeface="Wingdings" panose="05000000000000000000" pitchFamily="2" charset="2"/>
              <a:buChar char="v"/>
            </a:pPr>
            <a:r>
              <a:rPr lang="en-US" dirty="0"/>
              <a:t>Working software over comprehensive documentation</a:t>
            </a:r>
          </a:p>
          <a:p>
            <a:pPr lvl="2">
              <a:buFont typeface="Wingdings" panose="05000000000000000000" pitchFamily="2" charset="2"/>
              <a:buChar char="v"/>
            </a:pPr>
            <a:r>
              <a:rPr lang="en-US" dirty="0"/>
              <a:t>Customer collaboration over contract negotiation</a:t>
            </a:r>
          </a:p>
          <a:p>
            <a:pPr lvl="2">
              <a:buFont typeface="Wingdings" panose="05000000000000000000" pitchFamily="2" charset="2"/>
              <a:buChar char="v"/>
            </a:pPr>
            <a:r>
              <a:rPr lang="en-US" dirty="0"/>
              <a:t>Responding to change over following a project plan</a:t>
            </a:r>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4</a:t>
            </a:fld>
            <a:endParaRPr lang="en-US" dirty="0"/>
          </a:p>
        </p:txBody>
      </p:sp>
    </p:spTree>
    <p:extLst>
      <p:ext uri="{BB962C8B-B14F-4D97-AF65-F5344CB8AC3E}">
        <p14:creationId xmlns:p14="http://schemas.microsoft.com/office/powerpoint/2010/main" val="3571516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D5D0F03-1722-0674-04FC-3E8C6511EC2C}"/>
              </a:ext>
            </a:extLst>
          </p:cNvPr>
          <p:cNvSpPr>
            <a:spLocks noGrp="1"/>
          </p:cNvSpPr>
          <p:nvPr>
            <p:ph type="sldNum" sz="quarter" idx="12"/>
          </p:nvPr>
        </p:nvSpPr>
        <p:spPr/>
        <p:txBody>
          <a:bodyPr/>
          <a:lstStyle/>
          <a:p>
            <a:fld id="{A49DFD55-3C28-40EF-9E31-A92D2E4017FF}" type="slidenum">
              <a:rPr lang="en-US" smtClean="0"/>
              <a:pPr/>
              <a:t>5</a:t>
            </a:fld>
            <a:endParaRPr lang="en-US" dirty="0"/>
          </a:p>
        </p:txBody>
      </p:sp>
      <p:pic>
        <p:nvPicPr>
          <p:cNvPr id="5" name="Picture 6" descr="top 12 agile principles">
            <a:extLst>
              <a:ext uri="{FF2B5EF4-FFF2-40B4-BE49-F238E27FC236}">
                <a16:creationId xmlns:a16="http://schemas.microsoft.com/office/drawing/2014/main" id="{44FAF00F-49D8-94DB-22C2-2B5A3ACA4062}"/>
              </a:ext>
            </a:extLst>
          </p:cNvPr>
          <p:cNvPicPr>
            <a:picLocks noChangeAspect="1" noChangeArrowheads="1"/>
          </p:cNvPicPr>
          <p:nvPr/>
        </p:nvPicPr>
        <p:blipFill>
          <a:blip r:embed="rId2">
            <a:duotone>
              <a:prstClr val="black"/>
              <a:schemeClr val="accent3">
                <a:tint val="45000"/>
                <a:satMod val="400000"/>
              </a:schemeClr>
            </a:duotone>
            <a:alphaModFix/>
            <a:extLst>
              <a:ext uri="{28A0092B-C50C-407E-A947-70E740481C1C}">
                <a14:useLocalDpi xmlns:a14="http://schemas.microsoft.com/office/drawing/2010/main" val="0"/>
              </a:ext>
            </a:extLst>
          </a:blip>
          <a:srcRect/>
          <a:stretch>
            <a:fillRect/>
          </a:stretch>
        </p:blipFill>
        <p:spPr bwMode="auto">
          <a:xfrm>
            <a:off x="3200400" y="766682"/>
            <a:ext cx="8601997" cy="532463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7E722C9-1BC3-0799-F3F8-582E0FAEAD19}"/>
              </a:ext>
            </a:extLst>
          </p:cNvPr>
          <p:cNvSpPr txBox="1"/>
          <p:nvPr/>
        </p:nvSpPr>
        <p:spPr>
          <a:xfrm>
            <a:off x="9570889" y="6169580"/>
            <a:ext cx="2231508" cy="369332"/>
          </a:xfrm>
          <a:prstGeom prst="rect">
            <a:avLst/>
          </a:prstGeom>
          <a:noFill/>
        </p:spPr>
        <p:txBody>
          <a:bodyPr wrap="none" rtlCol="0">
            <a:spAutoFit/>
          </a:bodyPr>
          <a:lstStyle/>
          <a:p>
            <a:r>
              <a:rPr lang="en-US" dirty="0">
                <a:solidFill>
                  <a:schemeClr val="bg1">
                    <a:lumMod val="75000"/>
                  </a:schemeClr>
                </a:solidFill>
              </a:rPr>
              <a:t>(</a:t>
            </a:r>
            <a:r>
              <a:rPr lang="en-US" dirty="0" err="1">
                <a:solidFill>
                  <a:schemeClr val="bg1">
                    <a:lumMod val="75000"/>
                  </a:schemeClr>
                </a:solidFill>
              </a:rPr>
              <a:t>LeanWisdom</a:t>
            </a:r>
            <a:r>
              <a:rPr lang="en-US" dirty="0">
                <a:solidFill>
                  <a:schemeClr val="bg1">
                    <a:lumMod val="75000"/>
                  </a:schemeClr>
                </a:solidFill>
              </a:rPr>
              <a:t>, 2022)</a:t>
            </a:r>
          </a:p>
        </p:txBody>
      </p:sp>
    </p:spTree>
    <p:extLst>
      <p:ext uri="{BB962C8B-B14F-4D97-AF65-F5344CB8AC3E}">
        <p14:creationId xmlns:p14="http://schemas.microsoft.com/office/powerpoint/2010/main" val="1475555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AFA5E-469B-2BFC-9D4E-BD1EC6E48CA0}"/>
              </a:ext>
            </a:extLst>
          </p:cNvPr>
          <p:cNvSpPr>
            <a:spLocks noGrp="1"/>
          </p:cNvSpPr>
          <p:nvPr>
            <p:ph type="ctrTitle"/>
          </p:nvPr>
        </p:nvSpPr>
        <p:spPr>
          <a:xfrm>
            <a:off x="6991350" y="487680"/>
            <a:ext cx="4179570" cy="3376691"/>
          </a:xfrm>
        </p:spPr>
        <p:txBody>
          <a:bodyPr/>
          <a:lstStyle/>
          <a:p>
            <a:r>
              <a:rPr lang="en-US" dirty="0"/>
              <a:t>AGILE ROLES</a:t>
            </a:r>
          </a:p>
        </p:txBody>
      </p:sp>
      <p:cxnSp>
        <p:nvCxnSpPr>
          <p:cNvPr id="21" name="Straight Connector 20">
            <a:extLst>
              <a:ext uri="{FF2B5EF4-FFF2-40B4-BE49-F238E27FC236}">
                <a16:creationId xmlns:a16="http://schemas.microsoft.com/office/drawing/2014/main" id="{944268F6-A361-9907-F87F-9C4377ECAE6D}"/>
              </a:ext>
              <a:ext uri="{C183D7F6-B498-43B3-948B-1728B52AA6E4}">
                <adec:decorative xmlns:adec="http://schemas.microsoft.com/office/drawing/2017/decorative" val="1"/>
              </a:ext>
            </a:extLst>
          </p:cNvPr>
          <p:cNvCxnSpPr>
            <a:cxnSpLocks/>
          </p:cNvCxnSpPr>
          <p:nvPr/>
        </p:nvCxnSpPr>
        <p:spPr>
          <a:xfrm flipH="1" flipV="1">
            <a:off x="0" y="254643"/>
            <a:ext cx="6096000" cy="8557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9" name="Diagram 8">
            <a:extLst>
              <a:ext uri="{FF2B5EF4-FFF2-40B4-BE49-F238E27FC236}">
                <a16:creationId xmlns:a16="http://schemas.microsoft.com/office/drawing/2014/main" id="{6175784C-1376-797E-284C-A43E22BC8600}"/>
              </a:ext>
            </a:extLst>
          </p:cNvPr>
          <p:cNvGraphicFramePr/>
          <p:nvPr>
            <p:extLst>
              <p:ext uri="{D42A27DB-BD31-4B8C-83A1-F6EECF244321}">
                <p14:modId xmlns:p14="http://schemas.microsoft.com/office/powerpoint/2010/main" val="892887608"/>
              </p:ext>
            </p:extLst>
          </p:nvPr>
        </p:nvGraphicFramePr>
        <p:xfrm>
          <a:off x="-1163485" y="546331"/>
          <a:ext cx="8891639" cy="57653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41459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21055C-5E33-5D21-2A6E-21827FA88ED3}"/>
              </a:ext>
            </a:extLst>
          </p:cNvPr>
          <p:cNvSpPr>
            <a:spLocks noGrp="1"/>
          </p:cNvSpPr>
          <p:nvPr>
            <p:ph type="title"/>
          </p:nvPr>
        </p:nvSpPr>
        <p:spPr>
          <a:xfrm>
            <a:off x="838201" y="895350"/>
            <a:ext cx="3247662" cy="1917700"/>
          </a:xfrm>
        </p:spPr>
        <p:txBody>
          <a:bodyPr>
            <a:normAutofit/>
          </a:bodyPr>
          <a:lstStyle/>
          <a:p>
            <a:r>
              <a:rPr lang="en-US" dirty="0"/>
              <a:t>Agile</a:t>
            </a:r>
            <a:br>
              <a:rPr lang="en-US" dirty="0"/>
            </a:br>
            <a:r>
              <a:rPr lang="en-US" dirty="0"/>
              <a:t>roles</a:t>
            </a:r>
          </a:p>
        </p:txBody>
      </p:sp>
      <p:sp>
        <p:nvSpPr>
          <p:cNvPr id="6" name="Text Placeholder 5">
            <a:extLst>
              <a:ext uri="{FF2B5EF4-FFF2-40B4-BE49-F238E27FC236}">
                <a16:creationId xmlns:a16="http://schemas.microsoft.com/office/drawing/2014/main" id="{B587B122-1579-FDB8-443B-F05E622163C3}"/>
              </a:ext>
            </a:extLst>
          </p:cNvPr>
          <p:cNvSpPr>
            <a:spLocks noGrp="1"/>
          </p:cNvSpPr>
          <p:nvPr>
            <p:ph sz="half" idx="16"/>
          </p:nvPr>
        </p:nvSpPr>
        <p:spPr>
          <a:xfrm>
            <a:off x="838200" y="2813049"/>
            <a:ext cx="2848897" cy="3238499"/>
          </a:xfrm>
        </p:spPr>
        <p:txBody>
          <a:bodyPr>
            <a:normAutofit/>
          </a:bodyPr>
          <a:lstStyle/>
          <a:p>
            <a:r>
              <a:rPr lang="en-US" dirty="0"/>
              <a:t>Each team member on an agile team plays an integral role that supports the iterative development process and successful delivery of high-quality products (</a:t>
            </a:r>
            <a:r>
              <a:rPr lang="en-US" dirty="0" err="1"/>
              <a:t>Kulsrud</a:t>
            </a:r>
            <a:r>
              <a:rPr lang="en-US" dirty="0"/>
              <a:t>, 2020).</a:t>
            </a:r>
          </a:p>
        </p:txBody>
      </p:sp>
      <p:graphicFrame>
        <p:nvGraphicFramePr>
          <p:cNvPr id="10" name="Table Placeholder 2">
            <a:extLst>
              <a:ext uri="{FF2B5EF4-FFF2-40B4-BE49-F238E27FC236}">
                <a16:creationId xmlns:a16="http://schemas.microsoft.com/office/drawing/2014/main" id="{98ED67AF-B48B-F5F8-E2FD-1C98C42C4D54}"/>
              </a:ext>
            </a:extLst>
          </p:cNvPr>
          <p:cNvGraphicFramePr>
            <a:graphicFrameLocks noGrp="1"/>
          </p:cNvGraphicFramePr>
          <p:nvPr>
            <p:ph type="tbl" sz="quarter" idx="14"/>
            <p:extLst>
              <p:ext uri="{D42A27DB-BD31-4B8C-83A1-F6EECF244321}">
                <p14:modId xmlns:p14="http://schemas.microsoft.com/office/powerpoint/2010/main" val="151565071"/>
              </p:ext>
            </p:extLst>
          </p:nvPr>
        </p:nvGraphicFramePr>
        <p:xfrm>
          <a:off x="3687097" y="319089"/>
          <a:ext cx="8273845" cy="6219822"/>
        </p:xfrm>
        <a:graphic>
          <a:graphicData uri="http://schemas.openxmlformats.org/drawingml/2006/table">
            <a:tbl>
              <a:tblPr firstRow="1" bandRow="1">
                <a:tableStyleId>{7E9639D4-E3E2-4D34-9284-5A2195B3D0D7}</a:tableStyleId>
              </a:tblPr>
              <a:tblGrid>
                <a:gridCol w="1786051">
                  <a:extLst>
                    <a:ext uri="{9D8B030D-6E8A-4147-A177-3AD203B41FA5}">
                      <a16:colId xmlns:a16="http://schemas.microsoft.com/office/drawing/2014/main" val="127040821"/>
                    </a:ext>
                  </a:extLst>
                </a:gridCol>
                <a:gridCol w="3541573">
                  <a:extLst>
                    <a:ext uri="{9D8B030D-6E8A-4147-A177-3AD203B41FA5}">
                      <a16:colId xmlns:a16="http://schemas.microsoft.com/office/drawing/2014/main" val="149845700"/>
                    </a:ext>
                  </a:extLst>
                </a:gridCol>
                <a:gridCol w="2946221">
                  <a:extLst>
                    <a:ext uri="{9D8B030D-6E8A-4147-A177-3AD203B41FA5}">
                      <a16:colId xmlns:a16="http://schemas.microsoft.com/office/drawing/2014/main" val="3119692462"/>
                    </a:ext>
                  </a:extLst>
                </a:gridCol>
              </a:tblGrid>
              <a:tr h="832638">
                <a:tc>
                  <a:txBody>
                    <a:bodyPr/>
                    <a:lstStyle/>
                    <a:p>
                      <a:pPr algn="ctr"/>
                      <a:r>
                        <a:rPr lang="en-US" b="0" dirty="0"/>
                        <a:t>ROLE</a:t>
                      </a:r>
                    </a:p>
                  </a:txBody>
                  <a:tcPr anchor="ctr"/>
                </a:tc>
                <a:tc>
                  <a:txBody>
                    <a:bodyPr/>
                    <a:lstStyle/>
                    <a:p>
                      <a:pPr algn="ctr"/>
                      <a:r>
                        <a:rPr lang="en-US" b="0" dirty="0"/>
                        <a:t>DOMAIN</a:t>
                      </a:r>
                    </a:p>
                  </a:txBody>
                  <a:tcPr anchor="ctr"/>
                </a:tc>
                <a:tc>
                  <a:txBody>
                    <a:bodyPr/>
                    <a:lstStyle/>
                    <a:p>
                      <a:pPr algn="ctr"/>
                      <a:r>
                        <a:rPr lang="en-US" b="0" dirty="0"/>
                        <a:t>KEY IMPACTS</a:t>
                      </a:r>
                    </a:p>
                  </a:txBody>
                  <a:tcPr anchor="ctr"/>
                </a:tc>
                <a:extLst>
                  <a:ext uri="{0D108BD9-81ED-4DB2-BD59-A6C34878D82A}">
                    <a16:rowId xmlns:a16="http://schemas.microsoft.com/office/drawing/2014/main" val="3298013591"/>
                  </a:ext>
                </a:extLst>
              </a:tr>
              <a:tr h="1346796">
                <a:tc>
                  <a:txBody>
                    <a:bodyPr/>
                    <a:lstStyle/>
                    <a:p>
                      <a:pPr algn="ctr"/>
                      <a:r>
                        <a:rPr lang="en-US" sz="1600" dirty="0"/>
                        <a:t>Scrum Master</a:t>
                      </a:r>
                    </a:p>
                  </a:txBody>
                  <a:tcPr anchor="ctr"/>
                </a:tc>
                <a:tc>
                  <a:txBody>
                    <a:bodyPr/>
                    <a:lstStyle/>
                    <a:p>
                      <a:pPr marL="285750" indent="-285750" algn="l">
                        <a:buFont typeface="Arial" panose="020B0604020202020204" pitchFamily="34" charset="0"/>
                        <a:buChar char="•"/>
                      </a:pPr>
                      <a:r>
                        <a:rPr lang="en-US" sz="1600" dirty="0"/>
                        <a:t>Facilitate Scrum process</a:t>
                      </a:r>
                    </a:p>
                    <a:p>
                      <a:pPr marL="285750" indent="-285750" algn="l">
                        <a:buFont typeface="Arial" panose="020B0604020202020204" pitchFamily="34" charset="0"/>
                        <a:buChar char="•"/>
                      </a:pPr>
                      <a:r>
                        <a:rPr lang="en-US" sz="1600" dirty="0"/>
                        <a:t>Remove impediments</a:t>
                      </a:r>
                    </a:p>
                    <a:p>
                      <a:pPr marL="285750" indent="-285750" algn="l">
                        <a:buFont typeface="Arial" panose="020B0604020202020204" pitchFamily="34" charset="0"/>
                        <a:buChar char="•"/>
                      </a:pPr>
                      <a:r>
                        <a:rPr lang="en-US" sz="1600" dirty="0"/>
                        <a:t>Ensure adherence to Agile principles </a:t>
                      </a:r>
                    </a:p>
                  </a:txBody>
                  <a:tcPr anchor="ctr"/>
                </a:tc>
                <a:tc>
                  <a:txBody>
                    <a:bodyPr/>
                    <a:lstStyle/>
                    <a:p>
                      <a:pPr algn="l"/>
                      <a:r>
                        <a:rPr lang="en-US" sz="1600" kern="1200" dirty="0">
                          <a:solidFill>
                            <a:schemeClr val="tx1"/>
                          </a:solidFill>
                          <a:effectLst/>
                          <a:latin typeface="+mn-lt"/>
                          <a:ea typeface="+mn-ea"/>
                          <a:cs typeface="+mn-cs"/>
                        </a:rPr>
                        <a:t>Facilitates collaboration &amp; communication while upholding the Scrum framework effectively to meet project goals.</a:t>
                      </a:r>
                      <a:endParaRPr lang="en-US" sz="1600" dirty="0"/>
                    </a:p>
                  </a:txBody>
                  <a:tcPr anchor="ctr"/>
                </a:tc>
                <a:extLst>
                  <a:ext uri="{0D108BD9-81ED-4DB2-BD59-A6C34878D82A}">
                    <a16:rowId xmlns:a16="http://schemas.microsoft.com/office/drawing/2014/main" val="3873867931"/>
                  </a:ext>
                </a:extLst>
              </a:tr>
              <a:tr h="1346796">
                <a:tc>
                  <a:txBody>
                    <a:bodyPr/>
                    <a:lstStyle/>
                    <a:p>
                      <a:pPr algn="ctr"/>
                      <a:r>
                        <a:rPr lang="en-US" sz="1600" dirty="0"/>
                        <a:t>Product Owner</a:t>
                      </a:r>
                    </a:p>
                  </a:txBody>
                  <a:tcPr anchor="ctr"/>
                </a:tc>
                <a:tc>
                  <a:txBody>
                    <a:bodyPr/>
                    <a:lstStyle/>
                    <a:p>
                      <a:pPr marL="285750" indent="-285750" algn="l">
                        <a:buFont typeface="Arial" panose="020B0604020202020204" pitchFamily="34" charset="0"/>
                        <a:buChar char="•"/>
                      </a:pPr>
                      <a:r>
                        <a:rPr lang="en-US" sz="1600" dirty="0"/>
                        <a:t>Define product vision</a:t>
                      </a:r>
                    </a:p>
                    <a:p>
                      <a:pPr marL="285750" indent="-285750" algn="l">
                        <a:buFont typeface="Arial" panose="020B0604020202020204" pitchFamily="34" charset="0"/>
                        <a:buChar char="•"/>
                      </a:pPr>
                      <a:r>
                        <a:rPr lang="en-US" sz="1600" dirty="0"/>
                        <a:t>Manage product backlog</a:t>
                      </a:r>
                    </a:p>
                    <a:p>
                      <a:pPr marL="285750" indent="-285750" algn="l">
                        <a:buFont typeface="Arial" panose="020B0604020202020204" pitchFamily="34" charset="0"/>
                        <a:buChar char="•"/>
                      </a:pPr>
                      <a:r>
                        <a:rPr lang="en-US" sz="1600" dirty="0"/>
                        <a:t>Ensure delivery of value</a:t>
                      </a:r>
                    </a:p>
                  </a:txBody>
                  <a:tcPr anchor="ctr"/>
                </a:tc>
                <a:tc>
                  <a:txBody>
                    <a:bodyPr/>
                    <a:lstStyle/>
                    <a:p>
                      <a:pPr algn="l"/>
                      <a:r>
                        <a:rPr lang="en-US" sz="1600" kern="1200" dirty="0">
                          <a:solidFill>
                            <a:schemeClr val="tx1"/>
                          </a:solidFill>
                          <a:effectLst/>
                          <a:latin typeface="+mn-lt"/>
                          <a:ea typeface="+mn-ea"/>
                          <a:cs typeface="+mn-cs"/>
                        </a:rPr>
                        <a:t>Liaise between stakeholders &amp; the agile team; ensure the product vision is well defined, prioritized, &amp; effectively executed.</a:t>
                      </a:r>
                      <a:endParaRPr lang="en-US" sz="1600" dirty="0"/>
                    </a:p>
                  </a:txBody>
                  <a:tcPr anchor="ctr"/>
                </a:tc>
                <a:extLst>
                  <a:ext uri="{0D108BD9-81ED-4DB2-BD59-A6C34878D82A}">
                    <a16:rowId xmlns:a16="http://schemas.microsoft.com/office/drawing/2014/main" val="85209771"/>
                  </a:ext>
                </a:extLst>
              </a:tr>
              <a:tr h="1346796">
                <a:tc>
                  <a:txBody>
                    <a:bodyPr/>
                    <a:lstStyle/>
                    <a:p>
                      <a:pPr algn="ctr"/>
                      <a:r>
                        <a:rPr lang="en-US" sz="1600" dirty="0"/>
                        <a:t>Developer </a:t>
                      </a:r>
                      <a:br>
                        <a:rPr lang="en-US" sz="1600" dirty="0"/>
                      </a:br>
                      <a:r>
                        <a:rPr lang="en-US" sz="1600" dirty="0"/>
                        <a:t>(Team Member)</a:t>
                      </a:r>
                    </a:p>
                  </a:txBody>
                  <a:tcPr anchor="ctr"/>
                </a:tc>
                <a:tc>
                  <a:txBody>
                    <a:bodyPr/>
                    <a:lstStyle/>
                    <a:p>
                      <a:pPr marL="285750" indent="-285750" algn="l">
                        <a:buFont typeface="Arial" panose="020B0604020202020204" pitchFamily="34" charset="0"/>
                        <a:buChar char="•"/>
                      </a:pPr>
                      <a:r>
                        <a:rPr lang="en-US" sz="1600" dirty="0"/>
                        <a:t>Design &amp; build the product increment</a:t>
                      </a:r>
                    </a:p>
                    <a:p>
                      <a:pPr marL="285750" indent="-285750" algn="l">
                        <a:buFont typeface="Arial" panose="020B0604020202020204" pitchFamily="34" charset="0"/>
                        <a:buChar char="•"/>
                      </a:pPr>
                      <a:r>
                        <a:rPr lang="en-US" sz="1600" dirty="0"/>
                        <a:t>Collaborate with team to deliver high-quality work</a:t>
                      </a:r>
                    </a:p>
                  </a:txBody>
                  <a:tcPr anchor="ctr"/>
                </a:tc>
                <a:tc>
                  <a:txBody>
                    <a:bodyPr/>
                    <a:lstStyle/>
                    <a:p>
                      <a:pPr algn="l"/>
                      <a:r>
                        <a:rPr lang="en-US" sz="1600" kern="1200" dirty="0">
                          <a:solidFill>
                            <a:schemeClr val="tx1"/>
                          </a:solidFill>
                          <a:effectLst/>
                          <a:latin typeface="+mn-lt"/>
                          <a:ea typeface="+mn-ea"/>
                          <a:cs typeface="+mn-cs"/>
                        </a:rPr>
                        <a:t>The craftsperson who incrementally transforms the product’s vision, backlog &amp; user stories into tangible, high-quality software. </a:t>
                      </a:r>
                      <a:endParaRPr lang="en-US" sz="1600" dirty="0"/>
                    </a:p>
                  </a:txBody>
                  <a:tcPr anchor="ctr"/>
                </a:tc>
                <a:extLst>
                  <a:ext uri="{0D108BD9-81ED-4DB2-BD59-A6C34878D82A}">
                    <a16:rowId xmlns:a16="http://schemas.microsoft.com/office/drawing/2014/main" val="4061031278"/>
                  </a:ext>
                </a:extLst>
              </a:tr>
              <a:tr h="1346796">
                <a:tc>
                  <a:txBody>
                    <a:bodyPr/>
                    <a:lstStyle/>
                    <a:p>
                      <a:pPr algn="ctr"/>
                      <a:r>
                        <a:rPr lang="en-US" sz="1600" dirty="0"/>
                        <a:t>Tester</a:t>
                      </a:r>
                    </a:p>
                  </a:txBody>
                  <a:tcPr anchor="ctr"/>
                </a:tc>
                <a:tc>
                  <a:txBody>
                    <a:bodyPr/>
                    <a:lstStyle/>
                    <a:p>
                      <a:pPr marL="285750" indent="-285750" algn="l">
                        <a:buFont typeface="Arial" panose="020B0604020202020204" pitchFamily="34" charset="0"/>
                        <a:buChar char="•"/>
                      </a:pPr>
                      <a:r>
                        <a:rPr lang="en-US" sz="1600" dirty="0"/>
                        <a:t>Validate product’s functionality and quality</a:t>
                      </a:r>
                    </a:p>
                    <a:p>
                      <a:pPr marL="285750" indent="-285750" algn="l">
                        <a:buFont typeface="Arial" panose="020B0604020202020204" pitchFamily="34" charset="0"/>
                        <a:buChar char="•"/>
                      </a:pPr>
                      <a:r>
                        <a:rPr lang="en-US" sz="1600" dirty="0"/>
                        <a:t>Create and execute test cases</a:t>
                      </a:r>
                    </a:p>
                    <a:p>
                      <a:pPr marL="285750" indent="-285750" algn="l">
                        <a:buFont typeface="Arial" panose="020B0604020202020204" pitchFamily="34" charset="0"/>
                        <a:buChar char="•"/>
                      </a:pPr>
                      <a:r>
                        <a:rPr lang="en-US" sz="1600" dirty="0"/>
                        <a:t>Ensure acceptance criteria is met</a:t>
                      </a:r>
                    </a:p>
                  </a:txBody>
                  <a:tcPr anchor="ctr"/>
                </a:tc>
                <a:tc>
                  <a:txBody>
                    <a:bodyPr/>
                    <a:lstStyle/>
                    <a:p>
                      <a:pPr algn="l"/>
                      <a:r>
                        <a:rPr lang="en-US" sz="1600" kern="1200" dirty="0">
                          <a:solidFill>
                            <a:schemeClr val="tx1"/>
                          </a:solidFill>
                          <a:effectLst/>
                          <a:latin typeface="+mn-lt"/>
                          <a:ea typeface="+mn-ea"/>
                          <a:cs typeface="+mn-cs"/>
                        </a:rPr>
                        <a:t>Ensures the quality &amp; reliability of the product to meet user needs by providing timely feedback, testing exercises, and bug identification/fixes.</a:t>
                      </a:r>
                      <a:endParaRPr lang="en-US" sz="1600" dirty="0"/>
                    </a:p>
                  </a:txBody>
                  <a:tcPr anchor="ctr"/>
                </a:tc>
                <a:extLst>
                  <a:ext uri="{0D108BD9-81ED-4DB2-BD59-A6C34878D82A}">
                    <a16:rowId xmlns:a16="http://schemas.microsoft.com/office/drawing/2014/main" val="3591840781"/>
                  </a:ext>
                </a:extLst>
              </a:tr>
            </a:tbl>
          </a:graphicData>
        </a:graphic>
      </p:graphicFrame>
    </p:spTree>
    <p:extLst>
      <p:ext uri="{BB962C8B-B14F-4D97-AF65-F5344CB8AC3E}">
        <p14:creationId xmlns:p14="http://schemas.microsoft.com/office/powerpoint/2010/main" val="1658164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B3FC5-41DB-8B61-CCFA-9146451B0E20}"/>
              </a:ext>
            </a:extLst>
          </p:cNvPr>
          <p:cNvSpPr>
            <a:spLocks noGrp="1"/>
          </p:cNvSpPr>
          <p:nvPr>
            <p:ph type="ctrTitle"/>
          </p:nvPr>
        </p:nvSpPr>
        <p:spPr/>
        <p:txBody>
          <a:bodyPr/>
          <a:lstStyle/>
          <a:p>
            <a:r>
              <a:rPr lang="en-US" dirty="0"/>
              <a:t>Agile infrastructure</a:t>
            </a:r>
          </a:p>
        </p:txBody>
      </p:sp>
      <p:pic>
        <p:nvPicPr>
          <p:cNvPr id="17" name="Picture Placeholder 16" descr="A drawing of a city&#10;&#10;Description automatically generated">
            <a:extLst>
              <a:ext uri="{FF2B5EF4-FFF2-40B4-BE49-F238E27FC236}">
                <a16:creationId xmlns:a16="http://schemas.microsoft.com/office/drawing/2014/main" id="{0F73D8EB-5937-F4B4-E17C-BA94CCED655E}"/>
              </a:ext>
            </a:extLst>
          </p:cNvPr>
          <p:cNvPicPr>
            <a:picLocks noGrp="1" noChangeAspect="1"/>
          </p:cNvPicPr>
          <p:nvPr>
            <p:ph type="pic" sz="quarter" idx="10"/>
          </p:nvPr>
        </p:nvPicPr>
        <p:blipFill>
          <a:blip r:embed="rId2">
            <a:extLst>
              <a:ext uri="{BEBA8EAE-BF5A-486C-A8C5-ECC9F3942E4B}">
                <a14:imgProps xmlns:a14="http://schemas.microsoft.com/office/drawing/2010/main">
                  <a14:imgLayer r:embed="rId3">
                    <a14:imgEffect>
                      <a14:artisticPaintStrokes/>
                    </a14:imgEffect>
                  </a14:imgLayer>
                </a14:imgProps>
              </a:ext>
            </a:extLst>
          </a:blip>
          <a:srcRect l="18896" r="18896"/>
          <a:stretch>
            <a:fillRect/>
          </a:stretch>
        </p:blipFill>
        <p:spPr/>
      </p:pic>
    </p:spTree>
    <p:extLst>
      <p:ext uri="{BB962C8B-B14F-4D97-AF65-F5344CB8AC3E}">
        <p14:creationId xmlns:p14="http://schemas.microsoft.com/office/powerpoint/2010/main" val="1225882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21055C-5E33-5D21-2A6E-21827FA88ED3}"/>
              </a:ext>
            </a:extLst>
          </p:cNvPr>
          <p:cNvSpPr>
            <a:spLocks noGrp="1"/>
          </p:cNvSpPr>
          <p:nvPr>
            <p:ph type="title"/>
          </p:nvPr>
        </p:nvSpPr>
        <p:spPr>
          <a:xfrm>
            <a:off x="838201" y="895350"/>
            <a:ext cx="3247662" cy="1917700"/>
          </a:xfrm>
        </p:spPr>
        <p:txBody>
          <a:bodyPr>
            <a:normAutofit/>
          </a:bodyPr>
          <a:lstStyle/>
          <a:p>
            <a:r>
              <a:rPr lang="en-US" dirty="0"/>
              <a:t>ceremonies</a:t>
            </a:r>
          </a:p>
        </p:txBody>
      </p:sp>
      <p:sp>
        <p:nvSpPr>
          <p:cNvPr id="5" name="Title 2">
            <a:extLst>
              <a:ext uri="{FF2B5EF4-FFF2-40B4-BE49-F238E27FC236}">
                <a16:creationId xmlns:a16="http://schemas.microsoft.com/office/drawing/2014/main" id="{A1EBD0D2-3144-C2DE-C5EC-C3B38716CD0F}"/>
              </a:ext>
            </a:extLst>
          </p:cNvPr>
          <p:cNvSpPr txBox="1">
            <a:spLocks/>
          </p:cNvSpPr>
          <p:nvPr/>
        </p:nvSpPr>
        <p:spPr>
          <a:xfrm>
            <a:off x="6912340" y="895350"/>
            <a:ext cx="3247662" cy="1917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2400" kern="1200" cap="all" spc="150" baseline="0" dirty="0">
                <a:solidFill>
                  <a:schemeClr val="tx1"/>
                </a:solidFill>
                <a:latin typeface="+mj-lt"/>
                <a:ea typeface="+mj-ea"/>
                <a:cs typeface="+mj-cs"/>
              </a:defRPr>
            </a:lvl1pPr>
          </a:lstStyle>
          <a:p>
            <a:r>
              <a:rPr lang="en-US" dirty="0"/>
              <a:t>artifacts</a:t>
            </a:r>
          </a:p>
        </p:txBody>
      </p:sp>
      <p:graphicFrame>
        <p:nvGraphicFramePr>
          <p:cNvPr id="7" name="Diagram 6">
            <a:extLst>
              <a:ext uri="{FF2B5EF4-FFF2-40B4-BE49-F238E27FC236}">
                <a16:creationId xmlns:a16="http://schemas.microsoft.com/office/drawing/2014/main" id="{21D186DD-2E67-E4CA-0194-8802FABA732B}"/>
              </a:ext>
            </a:extLst>
          </p:cNvPr>
          <p:cNvGraphicFramePr/>
          <p:nvPr>
            <p:extLst>
              <p:ext uri="{D42A27DB-BD31-4B8C-83A1-F6EECF244321}">
                <p14:modId xmlns:p14="http://schemas.microsoft.com/office/powerpoint/2010/main" val="1327149265"/>
              </p:ext>
            </p:extLst>
          </p:nvPr>
        </p:nvGraphicFramePr>
        <p:xfrm>
          <a:off x="-393551" y="2241755"/>
          <a:ext cx="6074139" cy="4265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2" name="Diagram 11">
            <a:extLst>
              <a:ext uri="{FF2B5EF4-FFF2-40B4-BE49-F238E27FC236}">
                <a16:creationId xmlns:a16="http://schemas.microsoft.com/office/drawing/2014/main" id="{328C55BE-190D-238D-2B40-1E380FE531DE}"/>
              </a:ext>
            </a:extLst>
          </p:cNvPr>
          <p:cNvGraphicFramePr/>
          <p:nvPr>
            <p:extLst>
              <p:ext uri="{D42A27DB-BD31-4B8C-83A1-F6EECF244321}">
                <p14:modId xmlns:p14="http://schemas.microsoft.com/office/powerpoint/2010/main" val="574474651"/>
              </p:ext>
            </p:extLst>
          </p:nvPr>
        </p:nvGraphicFramePr>
        <p:xfrm>
          <a:off x="5680588" y="2721487"/>
          <a:ext cx="4055807" cy="287593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997073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AFA5E-469B-2BFC-9D4E-BD1EC6E48CA0}"/>
              </a:ext>
            </a:extLst>
          </p:cNvPr>
          <p:cNvSpPr>
            <a:spLocks noGrp="1"/>
          </p:cNvSpPr>
          <p:nvPr>
            <p:ph type="ctrTitle"/>
          </p:nvPr>
        </p:nvSpPr>
        <p:spPr>
          <a:xfrm>
            <a:off x="6991350" y="487680"/>
            <a:ext cx="4179570" cy="3376691"/>
          </a:xfrm>
        </p:spPr>
        <p:txBody>
          <a:bodyPr/>
          <a:lstStyle/>
          <a:p>
            <a:r>
              <a:rPr lang="en-US" dirty="0"/>
              <a:t>AGILE Framework</a:t>
            </a:r>
          </a:p>
        </p:txBody>
      </p:sp>
      <p:cxnSp>
        <p:nvCxnSpPr>
          <p:cNvPr id="21" name="Straight Connector 20">
            <a:extLst>
              <a:ext uri="{FF2B5EF4-FFF2-40B4-BE49-F238E27FC236}">
                <a16:creationId xmlns:a16="http://schemas.microsoft.com/office/drawing/2014/main" id="{944268F6-A361-9907-F87F-9C4377ECAE6D}"/>
              </a:ext>
              <a:ext uri="{C183D7F6-B498-43B3-948B-1728B52AA6E4}">
                <adec:decorative xmlns:adec="http://schemas.microsoft.com/office/drawing/2017/decorative" val="1"/>
              </a:ext>
            </a:extLst>
          </p:cNvPr>
          <p:cNvCxnSpPr>
            <a:cxnSpLocks/>
          </p:cNvCxnSpPr>
          <p:nvPr/>
        </p:nvCxnSpPr>
        <p:spPr>
          <a:xfrm flipH="1" flipV="1">
            <a:off x="0" y="254643"/>
            <a:ext cx="6096000" cy="8557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17732AF9-DCC5-6045-98AD-830B988B0EF8}"/>
              </a:ext>
            </a:extLst>
          </p:cNvPr>
          <p:cNvPicPr>
            <a:picLocks noChangeAspect="1"/>
          </p:cNvPicPr>
          <p:nvPr/>
        </p:nvPicPr>
        <p:blipFill>
          <a:blip r:embed="rId3">
            <a:alphaModFix/>
            <a:duotone>
              <a:prstClr val="black"/>
              <a:schemeClr val="accent3">
                <a:tint val="45000"/>
                <a:satMod val="400000"/>
              </a:schemeClr>
            </a:duotone>
          </a:blip>
          <a:stretch>
            <a:fillRect/>
          </a:stretch>
        </p:blipFill>
        <p:spPr>
          <a:xfrm>
            <a:off x="93406" y="1491307"/>
            <a:ext cx="6843626" cy="387538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TextBox 4">
            <a:extLst>
              <a:ext uri="{FF2B5EF4-FFF2-40B4-BE49-F238E27FC236}">
                <a16:creationId xmlns:a16="http://schemas.microsoft.com/office/drawing/2014/main" id="{55A4772D-C667-C4E2-44D7-2C27D3CCBB46}"/>
              </a:ext>
            </a:extLst>
          </p:cNvPr>
          <p:cNvSpPr txBox="1"/>
          <p:nvPr/>
        </p:nvSpPr>
        <p:spPr>
          <a:xfrm>
            <a:off x="10730510" y="6370320"/>
            <a:ext cx="1461490" cy="369332"/>
          </a:xfrm>
          <a:prstGeom prst="rect">
            <a:avLst/>
          </a:prstGeom>
          <a:noFill/>
        </p:spPr>
        <p:txBody>
          <a:bodyPr wrap="none" rtlCol="0">
            <a:spAutoFit/>
          </a:bodyPr>
          <a:lstStyle/>
          <a:p>
            <a:r>
              <a:rPr lang="en-US" dirty="0">
                <a:solidFill>
                  <a:schemeClr val="bg1">
                    <a:lumMod val="75000"/>
                  </a:schemeClr>
                </a:solidFill>
              </a:rPr>
              <a:t>(Cobb, 2015)</a:t>
            </a:r>
          </a:p>
        </p:txBody>
      </p:sp>
    </p:spTree>
    <p:extLst>
      <p:ext uri="{BB962C8B-B14F-4D97-AF65-F5344CB8AC3E}">
        <p14:creationId xmlns:p14="http://schemas.microsoft.com/office/powerpoint/2010/main" val="72693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oftware development life-cycle (SDLC) | by Artjoms Prokopiško | Medium">
            <a:extLst>
              <a:ext uri="{FF2B5EF4-FFF2-40B4-BE49-F238E27FC236}">
                <a16:creationId xmlns:a16="http://schemas.microsoft.com/office/drawing/2014/main" id="{C32B7CB7-F723-2E45-F09F-743979D54CED}"/>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5273242" y="136526"/>
            <a:ext cx="5517684" cy="277033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22318" y="268360"/>
            <a:ext cx="7288282" cy="2121177"/>
          </a:xfrm>
        </p:spPr>
        <p:txBody>
          <a:bodyPr>
            <a:normAutofit/>
          </a:bodyPr>
          <a:lstStyle/>
          <a:p>
            <a:r>
              <a:rPr lang="en-US" dirty="0"/>
              <a:t>SDLC phases for agile</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1322387" y="2763078"/>
            <a:ext cx="8942489" cy="3696716"/>
          </a:xfrm>
        </p:spPr>
        <p:txBody>
          <a:bodyPr>
            <a:normAutofit/>
          </a:bodyPr>
          <a:lstStyle/>
          <a:p>
            <a:pPr lvl="1"/>
            <a:r>
              <a:rPr lang="en-US" dirty="0"/>
              <a:t>A project run using an agile approach would not move through linear phases from start to finish (Rigby, Elk, &amp; </a:t>
            </a:r>
            <a:r>
              <a:rPr lang="en-US" dirty="0" err="1"/>
              <a:t>Berez</a:t>
            </a:r>
            <a:r>
              <a:rPr lang="en-US" dirty="0"/>
              <a:t>, 2020), instead it would move through various iterations of the following cycle:</a:t>
            </a:r>
          </a:p>
          <a:p>
            <a:pPr lvl="2">
              <a:buFont typeface="Wingdings" panose="05000000000000000000" pitchFamily="2" charset="2"/>
              <a:buChar char="v"/>
            </a:pPr>
            <a:r>
              <a:rPr lang="en-US" dirty="0"/>
              <a:t>Requirements are gathered via feedback &amp; stakeholder/customer insights</a:t>
            </a:r>
          </a:p>
          <a:p>
            <a:pPr lvl="2">
              <a:buFont typeface="Wingdings" panose="05000000000000000000" pitchFamily="2" charset="2"/>
              <a:buChar char="v"/>
            </a:pPr>
            <a:r>
              <a:rPr lang="en-US" dirty="0"/>
              <a:t>The product backlog is refined, revised, prioritized</a:t>
            </a:r>
          </a:p>
          <a:p>
            <a:pPr lvl="2">
              <a:buFont typeface="Wingdings" panose="05000000000000000000" pitchFamily="2" charset="2"/>
              <a:buChar char="v"/>
            </a:pPr>
            <a:r>
              <a:rPr lang="en-US" dirty="0"/>
              <a:t>Sprint planning informs the next sprint and the sprint backlog</a:t>
            </a:r>
          </a:p>
          <a:p>
            <a:pPr lvl="2">
              <a:buFont typeface="Wingdings" panose="05000000000000000000" pitchFamily="2" charset="2"/>
              <a:buChar char="v"/>
            </a:pPr>
            <a:r>
              <a:rPr lang="en-US" dirty="0"/>
              <a:t>The sprint runs from 1-4 weeks with daily standups – design, develop, test!</a:t>
            </a:r>
          </a:p>
          <a:p>
            <a:pPr lvl="2">
              <a:buFont typeface="Wingdings" panose="05000000000000000000" pitchFamily="2" charset="2"/>
              <a:buChar char="v"/>
            </a:pPr>
            <a:r>
              <a:rPr lang="en-US" dirty="0"/>
              <a:t>Work is reviewed via sprint review and retrospective</a:t>
            </a:r>
          </a:p>
          <a:p>
            <a:pPr lvl="2">
              <a:buFont typeface="Wingdings" panose="05000000000000000000" pitchFamily="2" charset="2"/>
              <a:buChar char="v"/>
            </a:pPr>
            <a:r>
              <a:rPr lang="en-US" dirty="0"/>
              <a:t>Lather, rinse, repeat!</a:t>
            </a:r>
          </a:p>
          <a:p>
            <a:pPr lvl="2"/>
            <a:endParaRPr lang="en-US" dirty="0"/>
          </a:p>
          <a:p>
            <a:pPr lvl="2"/>
            <a:endParaRPr lang="en-US" dirty="0"/>
          </a:p>
          <a:p>
            <a:pPr lvl="2"/>
            <a:endParaRPr lang="en-US" dirty="0"/>
          </a:p>
          <a:p>
            <a:pPr lvl="2"/>
            <a:endParaRPr lang="en-US" dirty="0"/>
          </a:p>
          <a:p>
            <a:pPr lvl="2"/>
            <a:endParaRPr lang="en-US" dirty="0"/>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11</a:t>
            </a:fld>
            <a:endParaRPr lang="en-US" dirty="0"/>
          </a:p>
        </p:txBody>
      </p:sp>
    </p:spTree>
    <p:extLst>
      <p:ext uri="{BB962C8B-B14F-4D97-AF65-F5344CB8AC3E}">
        <p14:creationId xmlns:p14="http://schemas.microsoft.com/office/powerpoint/2010/main" val="1226034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850EC-A081-2DBD-F495-4C2BA8797638}"/>
              </a:ext>
            </a:extLst>
          </p:cNvPr>
          <p:cNvSpPr>
            <a:spLocks noGrp="1"/>
          </p:cNvSpPr>
          <p:nvPr>
            <p:ph type="ctrTitle"/>
          </p:nvPr>
        </p:nvSpPr>
        <p:spPr/>
        <p:txBody>
          <a:bodyPr/>
          <a:lstStyle/>
          <a:p>
            <a:r>
              <a:rPr lang="en-US" dirty="0"/>
              <a:t>What is waterfall?</a:t>
            </a:r>
          </a:p>
        </p:txBody>
      </p:sp>
    </p:spTree>
    <p:extLst>
      <p:ext uri="{BB962C8B-B14F-4D97-AF65-F5344CB8AC3E}">
        <p14:creationId xmlns:p14="http://schemas.microsoft.com/office/powerpoint/2010/main" val="1328948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22318" y="268360"/>
            <a:ext cx="7288282" cy="2121177"/>
          </a:xfrm>
        </p:spPr>
        <p:txBody>
          <a:bodyPr>
            <a:normAutofit/>
          </a:bodyPr>
          <a:lstStyle/>
          <a:p>
            <a:r>
              <a:rPr lang="en-US" dirty="0"/>
              <a:t>waterfall at a glance</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1322388" y="2763078"/>
            <a:ext cx="7288212" cy="3696716"/>
          </a:xfrm>
        </p:spPr>
        <p:txBody>
          <a:bodyPr>
            <a:normAutofit/>
          </a:bodyPr>
          <a:lstStyle/>
          <a:p>
            <a:pPr lvl="1"/>
            <a:r>
              <a:rPr lang="en-US" dirty="0"/>
              <a:t>A linear and sequential approach to software development where each phase must be completed before moving on to the next, emphasizing thorough planning and documentation to guide the project from conception to delivery</a:t>
            </a:r>
          </a:p>
          <a:p>
            <a:pPr lvl="1"/>
            <a:r>
              <a:rPr lang="en-US" dirty="0"/>
              <a:t>Some key waterfall aspects</a:t>
            </a:r>
          </a:p>
          <a:p>
            <a:pPr lvl="2">
              <a:buFont typeface="Wingdings" panose="05000000000000000000" pitchFamily="2" charset="2"/>
              <a:buChar char="v"/>
            </a:pPr>
            <a:r>
              <a:rPr lang="en-US" dirty="0"/>
              <a:t>Linear phases</a:t>
            </a:r>
          </a:p>
          <a:p>
            <a:pPr lvl="2">
              <a:buFont typeface="Wingdings" panose="05000000000000000000" pitchFamily="2" charset="2"/>
              <a:buChar char="v"/>
            </a:pPr>
            <a:r>
              <a:rPr lang="en-US" dirty="0"/>
              <a:t>Extensive documentation</a:t>
            </a:r>
          </a:p>
          <a:p>
            <a:pPr lvl="2">
              <a:buFont typeface="Wingdings" panose="05000000000000000000" pitchFamily="2" charset="2"/>
              <a:buChar char="v"/>
            </a:pPr>
            <a:r>
              <a:rPr lang="en-US" dirty="0"/>
              <a:t>Clear milestones</a:t>
            </a:r>
          </a:p>
          <a:p>
            <a:pPr lvl="2">
              <a:buFont typeface="Wingdings" panose="05000000000000000000" pitchFamily="2" charset="2"/>
              <a:buChar char="v"/>
            </a:pPr>
            <a:r>
              <a:rPr lang="en-US" dirty="0"/>
              <a:t>Limited flexibility</a:t>
            </a:r>
          </a:p>
          <a:p>
            <a:pPr lvl="2">
              <a:buFont typeface="Wingdings" panose="05000000000000000000" pitchFamily="2" charset="2"/>
              <a:buChar char="v"/>
            </a:pPr>
            <a:r>
              <a:rPr lang="en-US" dirty="0"/>
              <a:t>Sequential dependency</a:t>
            </a:r>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13</a:t>
            </a:fld>
            <a:endParaRPr lang="en-US" dirty="0"/>
          </a:p>
        </p:txBody>
      </p:sp>
    </p:spTree>
    <p:extLst>
      <p:ext uri="{BB962C8B-B14F-4D97-AF65-F5344CB8AC3E}">
        <p14:creationId xmlns:p14="http://schemas.microsoft.com/office/powerpoint/2010/main" val="991146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AFA5E-469B-2BFC-9D4E-BD1EC6E48CA0}"/>
              </a:ext>
            </a:extLst>
          </p:cNvPr>
          <p:cNvSpPr>
            <a:spLocks noGrp="1"/>
          </p:cNvSpPr>
          <p:nvPr>
            <p:ph type="ctrTitle"/>
          </p:nvPr>
        </p:nvSpPr>
        <p:spPr>
          <a:xfrm>
            <a:off x="6991350" y="487680"/>
            <a:ext cx="4179570" cy="3376691"/>
          </a:xfrm>
        </p:spPr>
        <p:txBody>
          <a:bodyPr/>
          <a:lstStyle/>
          <a:p>
            <a:r>
              <a:rPr lang="en-US" dirty="0"/>
              <a:t>Waterfall framework </a:t>
            </a:r>
          </a:p>
        </p:txBody>
      </p:sp>
      <p:cxnSp>
        <p:nvCxnSpPr>
          <p:cNvPr id="21" name="Straight Connector 20">
            <a:extLst>
              <a:ext uri="{FF2B5EF4-FFF2-40B4-BE49-F238E27FC236}">
                <a16:creationId xmlns:a16="http://schemas.microsoft.com/office/drawing/2014/main" id="{944268F6-A361-9907-F87F-9C4377ECAE6D}"/>
              </a:ext>
              <a:ext uri="{C183D7F6-B498-43B3-948B-1728B52AA6E4}">
                <adec:decorative xmlns:adec="http://schemas.microsoft.com/office/drawing/2017/decorative" val="1"/>
              </a:ext>
            </a:extLst>
          </p:cNvPr>
          <p:cNvCxnSpPr>
            <a:cxnSpLocks/>
          </p:cNvCxnSpPr>
          <p:nvPr/>
        </p:nvCxnSpPr>
        <p:spPr>
          <a:xfrm flipH="1" flipV="1">
            <a:off x="0" y="254643"/>
            <a:ext cx="6096000" cy="8557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descr="A diagram of a waterfall model&#10;&#10;Description automatically generated">
            <a:extLst>
              <a:ext uri="{FF2B5EF4-FFF2-40B4-BE49-F238E27FC236}">
                <a16:creationId xmlns:a16="http://schemas.microsoft.com/office/drawing/2014/main" id="{7A28D015-DEB5-354A-D4FB-3D4B289A3B28}"/>
              </a:ext>
            </a:extLst>
          </p:cNvPr>
          <p:cNvPicPr>
            <a:picLocks noChangeAspect="1"/>
          </p:cNvPicPr>
          <p:nvPr/>
        </p:nvPicPr>
        <p:blipFill>
          <a:blip r:embed="rId3">
            <a:duotone>
              <a:prstClr val="black"/>
              <a:schemeClr val="accent3">
                <a:tint val="45000"/>
                <a:satMod val="400000"/>
              </a:schemeClr>
            </a:duotone>
          </a:blip>
          <a:stretch>
            <a:fillRect/>
          </a:stretch>
        </p:blipFill>
        <p:spPr>
          <a:xfrm>
            <a:off x="121357" y="1496814"/>
            <a:ext cx="6869993" cy="386437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TextBox 4">
            <a:extLst>
              <a:ext uri="{FF2B5EF4-FFF2-40B4-BE49-F238E27FC236}">
                <a16:creationId xmlns:a16="http://schemas.microsoft.com/office/drawing/2014/main" id="{E5E301B6-AC45-24D0-7AE9-34DE146BEC1C}"/>
              </a:ext>
            </a:extLst>
          </p:cNvPr>
          <p:cNvSpPr txBox="1"/>
          <p:nvPr/>
        </p:nvSpPr>
        <p:spPr>
          <a:xfrm>
            <a:off x="10074562" y="6398834"/>
            <a:ext cx="2192716" cy="369332"/>
          </a:xfrm>
          <a:prstGeom prst="rect">
            <a:avLst/>
          </a:prstGeom>
          <a:noFill/>
        </p:spPr>
        <p:txBody>
          <a:bodyPr wrap="none" rtlCol="0">
            <a:spAutoFit/>
          </a:bodyPr>
          <a:lstStyle/>
          <a:p>
            <a:r>
              <a:rPr lang="en-US" dirty="0">
                <a:solidFill>
                  <a:schemeClr val="bg1">
                    <a:lumMod val="75000"/>
                  </a:schemeClr>
                </a:solidFill>
              </a:rPr>
              <a:t>(BAP Software, n.d.)</a:t>
            </a:r>
          </a:p>
        </p:txBody>
      </p:sp>
    </p:spTree>
    <p:extLst>
      <p:ext uri="{BB962C8B-B14F-4D97-AF65-F5344CB8AC3E}">
        <p14:creationId xmlns:p14="http://schemas.microsoft.com/office/powerpoint/2010/main" val="3768631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927E8-4473-6C3B-AA35-C6BFDABD71CC}"/>
              </a:ext>
            </a:extLst>
          </p:cNvPr>
          <p:cNvSpPr>
            <a:spLocks noGrp="1"/>
          </p:cNvSpPr>
          <p:nvPr>
            <p:ph type="title"/>
          </p:nvPr>
        </p:nvSpPr>
        <p:spPr/>
        <p:txBody>
          <a:bodyPr/>
          <a:lstStyle/>
          <a:p>
            <a:r>
              <a:rPr lang="en-US" dirty="0"/>
              <a:t>Case study</a:t>
            </a:r>
          </a:p>
        </p:txBody>
      </p:sp>
      <p:sp>
        <p:nvSpPr>
          <p:cNvPr id="3" name="Content Placeholder 2">
            <a:extLst>
              <a:ext uri="{FF2B5EF4-FFF2-40B4-BE49-F238E27FC236}">
                <a16:creationId xmlns:a16="http://schemas.microsoft.com/office/drawing/2014/main" id="{6B046F7C-58F0-78DC-743A-1FA55CB1D5B7}"/>
              </a:ext>
            </a:extLst>
          </p:cNvPr>
          <p:cNvSpPr>
            <a:spLocks noGrp="1"/>
          </p:cNvSpPr>
          <p:nvPr>
            <p:ph sz="half" idx="16"/>
          </p:nvPr>
        </p:nvSpPr>
        <p:spPr/>
        <p:txBody>
          <a:bodyPr>
            <a:normAutofit fontScale="92500"/>
          </a:bodyPr>
          <a:lstStyle/>
          <a:p>
            <a:r>
              <a:rPr lang="en-US" dirty="0"/>
              <a:t>A restaurant requests a software development team to create a mobile application for their restaurant. </a:t>
            </a:r>
          </a:p>
          <a:p>
            <a:r>
              <a:rPr lang="en-US" dirty="0"/>
              <a:t>They want the app to include a menu, online ordering, and a loyalty rewards program.</a:t>
            </a:r>
          </a:p>
          <a:p>
            <a:r>
              <a:rPr lang="en-US" dirty="0"/>
              <a:t>Halfway through development, the restaurant decides they want to add a delivery tracking feature.</a:t>
            </a:r>
          </a:p>
        </p:txBody>
      </p:sp>
      <p:graphicFrame>
        <p:nvGraphicFramePr>
          <p:cNvPr id="6" name="Table Placeholder 5">
            <a:extLst>
              <a:ext uri="{FF2B5EF4-FFF2-40B4-BE49-F238E27FC236}">
                <a16:creationId xmlns:a16="http://schemas.microsoft.com/office/drawing/2014/main" id="{75F9BC94-DDB6-EE2C-9A11-76FBBAD467F8}"/>
              </a:ext>
            </a:extLst>
          </p:cNvPr>
          <p:cNvGraphicFramePr>
            <a:graphicFrameLocks noGrp="1"/>
          </p:cNvGraphicFramePr>
          <p:nvPr>
            <p:ph type="tbl" sz="quarter" idx="14"/>
            <p:extLst>
              <p:ext uri="{D42A27DB-BD31-4B8C-83A1-F6EECF244321}">
                <p14:modId xmlns:p14="http://schemas.microsoft.com/office/powerpoint/2010/main" val="848965141"/>
              </p:ext>
            </p:extLst>
          </p:nvPr>
        </p:nvGraphicFramePr>
        <p:xfrm>
          <a:off x="4216399" y="1239272"/>
          <a:ext cx="7137400" cy="4812276"/>
        </p:xfrm>
        <a:graphic>
          <a:graphicData uri="http://schemas.openxmlformats.org/drawingml/2006/table">
            <a:tbl>
              <a:tblPr firstRow="1" bandRow="1">
                <a:tableStyleId>{5C22544A-7EE6-4342-B048-85BDC9FD1C3A}</a:tableStyleId>
              </a:tblPr>
              <a:tblGrid>
                <a:gridCol w="3568700">
                  <a:extLst>
                    <a:ext uri="{9D8B030D-6E8A-4147-A177-3AD203B41FA5}">
                      <a16:colId xmlns:a16="http://schemas.microsoft.com/office/drawing/2014/main" val="732771621"/>
                    </a:ext>
                  </a:extLst>
                </a:gridCol>
                <a:gridCol w="3568700">
                  <a:extLst>
                    <a:ext uri="{9D8B030D-6E8A-4147-A177-3AD203B41FA5}">
                      <a16:colId xmlns:a16="http://schemas.microsoft.com/office/drawing/2014/main" val="2914917504"/>
                    </a:ext>
                  </a:extLst>
                </a:gridCol>
              </a:tblGrid>
              <a:tr h="387317">
                <a:tc>
                  <a:txBody>
                    <a:bodyPr/>
                    <a:lstStyle/>
                    <a:p>
                      <a:r>
                        <a:rPr lang="en-US" dirty="0"/>
                        <a:t>WATERFALL APPROACH</a:t>
                      </a:r>
                    </a:p>
                  </a:txBody>
                  <a:tcPr/>
                </a:tc>
                <a:tc>
                  <a:txBody>
                    <a:bodyPr/>
                    <a:lstStyle/>
                    <a:p>
                      <a:r>
                        <a:rPr lang="en-US" dirty="0"/>
                        <a:t>AGILE APPROACH</a:t>
                      </a:r>
                    </a:p>
                  </a:txBody>
                  <a:tcPr/>
                </a:tc>
                <a:extLst>
                  <a:ext uri="{0D108BD9-81ED-4DB2-BD59-A6C34878D82A}">
                    <a16:rowId xmlns:a16="http://schemas.microsoft.com/office/drawing/2014/main" val="1324360891"/>
                  </a:ext>
                </a:extLst>
              </a:tr>
              <a:tr h="4424959">
                <a:tc>
                  <a:txBody>
                    <a:bodyPr/>
                    <a:lstStyle/>
                    <a:p>
                      <a:pPr marL="285750" indent="-285750">
                        <a:buFont typeface="Arial" panose="020B0604020202020204" pitchFamily="34" charset="0"/>
                        <a:buChar char="•"/>
                      </a:pPr>
                      <a:r>
                        <a:rPr lang="en-US" sz="1600" dirty="0"/>
                        <a:t>All requirements are gathered at the start of the project, excluding the then-unknown change request</a:t>
                      </a:r>
                    </a:p>
                    <a:p>
                      <a:pPr marL="285750" indent="-285750">
                        <a:buFont typeface="Arial" panose="020B0604020202020204" pitchFamily="34" charset="0"/>
                        <a:buChar char="•"/>
                      </a:pPr>
                      <a:r>
                        <a:rPr lang="en-US" sz="1600" dirty="0"/>
                        <a:t>The team moves on to the design phase</a:t>
                      </a:r>
                    </a:p>
                    <a:p>
                      <a:pPr marL="285750" indent="-285750">
                        <a:buFont typeface="Arial" panose="020B0604020202020204" pitchFamily="34" charset="0"/>
                        <a:buChar char="•"/>
                      </a:pPr>
                      <a:r>
                        <a:rPr lang="en-US" sz="1600" dirty="0"/>
                        <a:t>The team moves on to the development phase</a:t>
                      </a:r>
                    </a:p>
                    <a:p>
                      <a:pPr marL="285750" indent="-285750">
                        <a:buFont typeface="Arial" panose="020B0604020202020204" pitchFamily="34" charset="0"/>
                        <a:buChar char="•"/>
                      </a:pPr>
                      <a:r>
                        <a:rPr lang="en-US" sz="1600" dirty="0"/>
                        <a:t>When the new request arises, a formal change request process is initiated</a:t>
                      </a:r>
                    </a:p>
                    <a:p>
                      <a:pPr marL="285750" indent="-285750">
                        <a:buFont typeface="Arial" panose="020B0604020202020204" pitchFamily="34" charset="0"/>
                        <a:buChar char="•"/>
                      </a:pPr>
                      <a:r>
                        <a:rPr lang="en-US" sz="1600" dirty="0"/>
                        <a:t>The team must revisit the design and requirements phases to incorporate this new feature</a:t>
                      </a:r>
                    </a:p>
                    <a:p>
                      <a:pPr marL="285750" indent="-285750">
                        <a:buFont typeface="Arial" panose="020B0604020202020204" pitchFamily="34" charset="0"/>
                        <a:buChar char="•"/>
                      </a:pPr>
                      <a:r>
                        <a:rPr lang="en-US" sz="1600" dirty="0"/>
                        <a:t>Development is resumed</a:t>
                      </a:r>
                    </a:p>
                    <a:p>
                      <a:pPr marL="285750" indent="-285750">
                        <a:buFont typeface="Arial" panose="020B0604020202020204" pitchFamily="34" charset="0"/>
                        <a:buChar char="•"/>
                      </a:pPr>
                      <a:r>
                        <a:rPr lang="en-US" sz="1600" dirty="0"/>
                        <a:t>Project delivery time and budget may be impacted</a:t>
                      </a:r>
                    </a:p>
                  </a:txBody>
                  <a:tcPr/>
                </a:tc>
                <a:tc>
                  <a:txBody>
                    <a:bodyPr/>
                    <a:lstStyle/>
                    <a:p>
                      <a:pPr marL="285750" indent="-285750">
                        <a:buFont typeface="Arial" panose="020B0604020202020204" pitchFamily="34" charset="0"/>
                        <a:buChar char="•"/>
                      </a:pPr>
                      <a:r>
                        <a:rPr lang="en-US" sz="1600" dirty="0"/>
                        <a:t>Early requirements inform on the initial activities in the product backlog</a:t>
                      </a:r>
                    </a:p>
                    <a:p>
                      <a:pPr marL="285750" indent="-285750">
                        <a:buFont typeface="Arial" panose="020B0604020202020204" pitchFamily="34" charset="0"/>
                        <a:buChar char="•"/>
                      </a:pPr>
                      <a:r>
                        <a:rPr lang="en-US" sz="1600" dirty="0"/>
                        <a:t>The first sprint is initiated and results in a completed menu feature</a:t>
                      </a:r>
                    </a:p>
                    <a:p>
                      <a:pPr marL="285750" indent="-285750">
                        <a:buFont typeface="Arial" panose="020B0604020202020204" pitchFamily="34" charset="0"/>
                        <a:buChar char="•"/>
                      </a:pPr>
                      <a:r>
                        <a:rPr lang="en-US" sz="1600" dirty="0"/>
                        <a:t>The second sprint is initiated and results in a completed online ordering feature</a:t>
                      </a:r>
                    </a:p>
                    <a:p>
                      <a:pPr marL="285750" indent="-285750">
                        <a:buFont typeface="Arial" panose="020B0604020202020204" pitchFamily="34" charset="0"/>
                        <a:buChar char="•"/>
                      </a:pPr>
                      <a:r>
                        <a:rPr lang="en-US" sz="1600" dirty="0"/>
                        <a:t>The new request for a delivery tracking feature arises</a:t>
                      </a:r>
                    </a:p>
                    <a:p>
                      <a:pPr marL="285750" indent="-285750">
                        <a:buFont typeface="Arial" panose="020B0604020202020204" pitchFamily="34" charset="0"/>
                        <a:buChar char="•"/>
                      </a:pPr>
                      <a:r>
                        <a:rPr lang="en-US" sz="1600" dirty="0"/>
                        <a:t>The product backlog is updated with this new priority</a:t>
                      </a:r>
                    </a:p>
                    <a:p>
                      <a:pPr marL="285750" indent="-285750">
                        <a:buFont typeface="Arial" panose="020B0604020202020204" pitchFamily="34" charset="0"/>
                        <a:buChar char="•"/>
                      </a:pPr>
                      <a:r>
                        <a:rPr lang="en-US" sz="1600" dirty="0"/>
                        <a:t>The next sprint includes this request</a:t>
                      </a:r>
                    </a:p>
                    <a:p>
                      <a:pPr marL="285750" indent="-285750">
                        <a:buFont typeface="Arial" panose="020B0604020202020204" pitchFamily="34" charset="0"/>
                        <a:buChar char="•"/>
                      </a:pPr>
                      <a:r>
                        <a:rPr lang="en-US" sz="1600" dirty="0"/>
                        <a:t>Quick adjustments are made to avoid budget or timeline concerns</a:t>
                      </a:r>
                    </a:p>
                  </a:txBody>
                  <a:tcPr/>
                </a:tc>
                <a:extLst>
                  <a:ext uri="{0D108BD9-81ED-4DB2-BD59-A6C34878D82A}">
                    <a16:rowId xmlns:a16="http://schemas.microsoft.com/office/drawing/2014/main" val="1120766646"/>
                  </a:ext>
                </a:extLst>
              </a:tr>
            </a:tbl>
          </a:graphicData>
        </a:graphic>
      </p:graphicFrame>
    </p:spTree>
    <p:extLst>
      <p:ext uri="{BB962C8B-B14F-4D97-AF65-F5344CB8AC3E}">
        <p14:creationId xmlns:p14="http://schemas.microsoft.com/office/powerpoint/2010/main" val="1550388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BD236-5A7E-3573-D632-D8CD46184860}"/>
              </a:ext>
            </a:extLst>
          </p:cNvPr>
          <p:cNvSpPr>
            <a:spLocks noGrp="1"/>
          </p:cNvSpPr>
          <p:nvPr>
            <p:ph type="title"/>
          </p:nvPr>
        </p:nvSpPr>
        <p:spPr>
          <a:xfrm>
            <a:off x="1322318" y="268360"/>
            <a:ext cx="7288282" cy="2121177"/>
          </a:xfrm>
        </p:spPr>
        <p:txBody>
          <a:bodyPr anchor="b">
            <a:normAutofit/>
          </a:bodyPr>
          <a:lstStyle/>
          <a:p>
            <a:r>
              <a:rPr lang="en-US" dirty="0"/>
              <a:t>Agile </a:t>
            </a:r>
            <a:br>
              <a:rPr lang="en-US" dirty="0"/>
            </a:br>
            <a:r>
              <a:rPr lang="en-US" dirty="0"/>
              <a:t>vs </a:t>
            </a:r>
            <a:br>
              <a:rPr lang="en-US" dirty="0"/>
            </a:br>
            <a:r>
              <a:rPr lang="en-US" dirty="0"/>
              <a:t>waterfall</a:t>
            </a:r>
          </a:p>
        </p:txBody>
      </p:sp>
      <p:pic>
        <p:nvPicPr>
          <p:cNvPr id="5" name="Picture Placeholder 4" descr="A diagram of a software development process&#10;&#10;Description automatically generated">
            <a:extLst>
              <a:ext uri="{FF2B5EF4-FFF2-40B4-BE49-F238E27FC236}">
                <a16:creationId xmlns:a16="http://schemas.microsoft.com/office/drawing/2014/main" id="{C885D782-0578-8DE6-3BD0-617BEEBC4EDF}"/>
              </a:ext>
            </a:extLst>
          </p:cNvPr>
          <p:cNvPicPr>
            <a:picLocks noGrp="1" noChangeAspect="1"/>
          </p:cNvPicPr>
          <p:nvPr>
            <p:ph sz="half" idx="2"/>
          </p:nvPr>
        </p:nvPicPr>
        <p:blipFill>
          <a:blip r:embed="rId2">
            <a:duotone>
              <a:schemeClr val="accent5">
                <a:shade val="45000"/>
                <a:satMod val="135000"/>
              </a:schemeClr>
              <a:prstClr val="white"/>
            </a:duotone>
            <a:alphaModFix/>
          </a:blip>
          <a:srcRect l="1" t="11087" r="3" b="9703"/>
          <a:stretch/>
        </p:blipFill>
        <p:spPr>
          <a:xfrm>
            <a:off x="1322318" y="2949494"/>
            <a:ext cx="6574103" cy="3037940"/>
          </a:xfrm>
          <a:noFill/>
        </p:spPr>
      </p:pic>
      <p:sp>
        <p:nvSpPr>
          <p:cNvPr id="6" name="TextBox 5">
            <a:extLst>
              <a:ext uri="{FF2B5EF4-FFF2-40B4-BE49-F238E27FC236}">
                <a16:creationId xmlns:a16="http://schemas.microsoft.com/office/drawing/2014/main" id="{6AAD922A-7407-B06E-A184-9F0F328F04AA}"/>
              </a:ext>
            </a:extLst>
          </p:cNvPr>
          <p:cNvSpPr txBox="1"/>
          <p:nvPr/>
        </p:nvSpPr>
        <p:spPr>
          <a:xfrm>
            <a:off x="10570787" y="6434414"/>
            <a:ext cx="1621213" cy="369332"/>
          </a:xfrm>
          <a:prstGeom prst="rect">
            <a:avLst/>
          </a:prstGeom>
          <a:noFill/>
        </p:spPr>
        <p:txBody>
          <a:bodyPr wrap="none" rtlCol="0">
            <a:spAutoFit/>
          </a:bodyPr>
          <a:lstStyle/>
          <a:p>
            <a:r>
              <a:rPr lang="en-US" dirty="0">
                <a:solidFill>
                  <a:schemeClr val="bg1">
                    <a:lumMod val="75000"/>
                  </a:schemeClr>
                </a:solidFill>
              </a:rPr>
              <a:t>(</a:t>
            </a:r>
            <a:r>
              <a:rPr lang="en-US" dirty="0" err="1">
                <a:solidFill>
                  <a:schemeClr val="bg1">
                    <a:lumMod val="75000"/>
                  </a:schemeClr>
                </a:solidFill>
              </a:rPr>
              <a:t>Rohilla</a:t>
            </a:r>
            <a:r>
              <a:rPr lang="en-US" dirty="0">
                <a:solidFill>
                  <a:schemeClr val="bg1">
                    <a:lumMod val="75000"/>
                  </a:schemeClr>
                </a:solidFill>
              </a:rPr>
              <a:t>, 2024)</a:t>
            </a:r>
          </a:p>
        </p:txBody>
      </p:sp>
    </p:spTree>
    <p:extLst>
      <p:ext uri="{BB962C8B-B14F-4D97-AF65-F5344CB8AC3E}">
        <p14:creationId xmlns:p14="http://schemas.microsoft.com/office/powerpoint/2010/main" val="679935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6FFD0-D466-3A97-2408-1FF6E1AD60E6}"/>
              </a:ext>
            </a:extLst>
          </p:cNvPr>
          <p:cNvSpPr>
            <a:spLocks noGrp="1"/>
          </p:cNvSpPr>
          <p:nvPr>
            <p:ph type="title"/>
          </p:nvPr>
        </p:nvSpPr>
        <p:spPr>
          <a:xfrm>
            <a:off x="1356800" y="107552"/>
            <a:ext cx="7288282" cy="977596"/>
          </a:xfrm>
        </p:spPr>
        <p:txBody>
          <a:bodyPr anchor="b">
            <a:normAutofit/>
          </a:bodyPr>
          <a:lstStyle/>
          <a:p>
            <a:r>
              <a:rPr lang="en-US" dirty="0"/>
              <a:t>Factors to determine approach</a:t>
            </a:r>
          </a:p>
        </p:txBody>
      </p:sp>
      <p:sp>
        <p:nvSpPr>
          <p:cNvPr id="4" name="Slide Number Placeholder 3">
            <a:extLst>
              <a:ext uri="{FF2B5EF4-FFF2-40B4-BE49-F238E27FC236}">
                <a16:creationId xmlns:a16="http://schemas.microsoft.com/office/drawing/2014/main" id="{6AC2D25E-5F7D-753F-240F-BD9C7C2812A1}"/>
              </a:ext>
            </a:extLst>
          </p:cNvPr>
          <p:cNvSpPr>
            <a:spLocks noGrp="1"/>
          </p:cNvSpPr>
          <p:nvPr>
            <p:ph type="sldNum" sz="quarter" idx="12"/>
          </p:nvPr>
        </p:nvSpPr>
        <p:spPr>
          <a:xfrm>
            <a:off x="10373350" y="6356349"/>
            <a:ext cx="987552" cy="365125"/>
          </a:xfrm>
        </p:spPr>
        <p:txBody>
          <a:bodyPr anchor="ctr">
            <a:normAutofit/>
          </a:bodyPr>
          <a:lstStyle/>
          <a:p>
            <a:pPr>
              <a:spcAft>
                <a:spcPts val="600"/>
              </a:spcAft>
            </a:pPr>
            <a:fld id="{A49DFD55-3C28-40EF-9E31-A92D2E4017FF}" type="slidenum">
              <a:rPr lang="en-US" smtClean="0"/>
              <a:pPr>
                <a:spcAft>
                  <a:spcPts val="600"/>
                </a:spcAft>
              </a:pPr>
              <a:t>17</a:t>
            </a:fld>
            <a:endParaRPr lang="en-US"/>
          </a:p>
        </p:txBody>
      </p:sp>
      <p:grpSp>
        <p:nvGrpSpPr>
          <p:cNvPr id="6" name="Group 5">
            <a:extLst>
              <a:ext uri="{FF2B5EF4-FFF2-40B4-BE49-F238E27FC236}">
                <a16:creationId xmlns:a16="http://schemas.microsoft.com/office/drawing/2014/main" id="{4712C5AB-F3E0-DDC7-896B-6E68F0DE2FFD}"/>
              </a:ext>
            </a:extLst>
          </p:cNvPr>
          <p:cNvGrpSpPr/>
          <p:nvPr/>
        </p:nvGrpSpPr>
        <p:grpSpPr>
          <a:xfrm>
            <a:off x="1450932" y="2558401"/>
            <a:ext cx="8922418" cy="2471127"/>
            <a:chOff x="1450930" y="3737911"/>
            <a:chExt cx="8922418" cy="2471127"/>
          </a:xfrm>
        </p:grpSpPr>
        <p:sp>
          <p:nvSpPr>
            <p:cNvPr id="8" name="Freeform: Shape 7">
              <a:extLst>
                <a:ext uri="{FF2B5EF4-FFF2-40B4-BE49-F238E27FC236}">
                  <a16:creationId xmlns:a16="http://schemas.microsoft.com/office/drawing/2014/main" id="{305BBDB0-B174-8588-3FF6-491B77756CD5}"/>
                </a:ext>
              </a:extLst>
            </p:cNvPr>
            <p:cNvSpPr/>
            <p:nvPr/>
          </p:nvSpPr>
          <p:spPr>
            <a:xfrm>
              <a:off x="1450930" y="3771971"/>
              <a:ext cx="4096830" cy="486986"/>
            </a:xfrm>
            <a:custGeom>
              <a:avLst/>
              <a:gdLst>
                <a:gd name="connsiteX0" fmla="*/ 0 w 4096830"/>
                <a:gd name="connsiteY0" fmla="*/ 0 h 486986"/>
                <a:gd name="connsiteX1" fmla="*/ 4096830 w 4096830"/>
                <a:gd name="connsiteY1" fmla="*/ 0 h 486986"/>
                <a:gd name="connsiteX2" fmla="*/ 4096830 w 4096830"/>
                <a:gd name="connsiteY2" fmla="*/ 486986 h 486986"/>
                <a:gd name="connsiteX3" fmla="*/ 0 w 4096830"/>
                <a:gd name="connsiteY3" fmla="*/ 486986 h 486986"/>
                <a:gd name="connsiteX4" fmla="*/ 0 w 4096830"/>
                <a:gd name="connsiteY4" fmla="*/ 0 h 486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6830" h="486986">
                  <a:moveTo>
                    <a:pt x="0" y="0"/>
                  </a:moveTo>
                  <a:lnTo>
                    <a:pt x="4096830" y="0"/>
                  </a:lnTo>
                  <a:lnTo>
                    <a:pt x="4096830" y="486986"/>
                  </a:lnTo>
                  <a:lnTo>
                    <a:pt x="0" y="48698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1377950">
                <a:lnSpc>
                  <a:spcPct val="100000"/>
                </a:lnSpc>
                <a:spcBef>
                  <a:spcPct val="0"/>
                </a:spcBef>
                <a:spcAft>
                  <a:spcPct val="35000"/>
                </a:spcAft>
                <a:buNone/>
                <a:defRPr b="1"/>
              </a:pPr>
              <a:r>
                <a:rPr lang="en-US" sz="3100" kern="1200" dirty="0"/>
                <a:t>Waterfall</a:t>
              </a:r>
            </a:p>
          </p:txBody>
        </p:sp>
        <p:sp>
          <p:nvSpPr>
            <p:cNvPr id="9" name="Freeform: Shape 8">
              <a:extLst>
                <a:ext uri="{FF2B5EF4-FFF2-40B4-BE49-F238E27FC236}">
                  <a16:creationId xmlns:a16="http://schemas.microsoft.com/office/drawing/2014/main" id="{BDA27B19-8886-39C9-3B3C-297B99CC4DA6}"/>
                </a:ext>
              </a:extLst>
            </p:cNvPr>
            <p:cNvSpPr/>
            <p:nvPr/>
          </p:nvSpPr>
          <p:spPr>
            <a:xfrm>
              <a:off x="1450930" y="4317531"/>
              <a:ext cx="4096830" cy="1891507"/>
            </a:xfrm>
            <a:custGeom>
              <a:avLst/>
              <a:gdLst>
                <a:gd name="connsiteX0" fmla="*/ 0 w 4096830"/>
                <a:gd name="connsiteY0" fmla="*/ 0 h 1891507"/>
                <a:gd name="connsiteX1" fmla="*/ 4096830 w 4096830"/>
                <a:gd name="connsiteY1" fmla="*/ 0 h 1891507"/>
                <a:gd name="connsiteX2" fmla="*/ 4096830 w 4096830"/>
                <a:gd name="connsiteY2" fmla="*/ 1891507 h 1891507"/>
                <a:gd name="connsiteX3" fmla="*/ 0 w 4096830"/>
                <a:gd name="connsiteY3" fmla="*/ 1891507 h 1891507"/>
                <a:gd name="connsiteX4" fmla="*/ 0 w 4096830"/>
                <a:gd name="connsiteY4" fmla="*/ 0 h 1891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6830" h="1891507">
                  <a:moveTo>
                    <a:pt x="0" y="0"/>
                  </a:moveTo>
                  <a:lnTo>
                    <a:pt x="4096830" y="0"/>
                  </a:lnTo>
                  <a:lnTo>
                    <a:pt x="4096830" y="1891507"/>
                  </a:lnTo>
                  <a:lnTo>
                    <a:pt x="0" y="189150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kern="1200" dirty="0"/>
                <a:t>Well-defined requirements, unlikely to change</a:t>
              </a:r>
            </a:p>
            <a:p>
              <a:pPr marL="0" lvl="0" indent="0" algn="l" defTabSz="711200">
                <a:lnSpc>
                  <a:spcPct val="100000"/>
                </a:lnSpc>
                <a:spcBef>
                  <a:spcPct val="0"/>
                </a:spcBef>
                <a:spcAft>
                  <a:spcPct val="35000"/>
                </a:spcAft>
                <a:buNone/>
              </a:pPr>
              <a:r>
                <a:rPr lang="en-US" sz="1600" kern="1200" dirty="0"/>
                <a:t>Milestone only client review, low customer involvement</a:t>
              </a:r>
            </a:p>
            <a:p>
              <a:pPr marL="0" lvl="0" indent="0" algn="l" defTabSz="711200">
                <a:lnSpc>
                  <a:spcPct val="100000"/>
                </a:lnSpc>
                <a:spcBef>
                  <a:spcPct val="0"/>
                </a:spcBef>
                <a:spcAft>
                  <a:spcPct val="35000"/>
                </a:spcAft>
                <a:buNone/>
              </a:pPr>
              <a:r>
                <a:rPr lang="en-US" sz="1600" kern="1200" dirty="0"/>
                <a:t>Strict timeline requiring predictable delivery dates</a:t>
              </a:r>
            </a:p>
            <a:p>
              <a:pPr marL="0" lvl="0" indent="0" algn="l" defTabSz="711200">
                <a:lnSpc>
                  <a:spcPct val="100000"/>
                </a:lnSpc>
                <a:spcBef>
                  <a:spcPct val="0"/>
                </a:spcBef>
                <a:spcAft>
                  <a:spcPct val="35000"/>
                </a:spcAft>
                <a:buNone/>
              </a:pPr>
              <a:r>
                <a:rPr lang="en-US" sz="1600" kern="1200" dirty="0"/>
                <a:t>Low complexity, straightforward project goals</a:t>
              </a:r>
            </a:p>
            <a:p>
              <a:pPr marL="0" lvl="0" indent="0" algn="l" defTabSz="711200">
                <a:lnSpc>
                  <a:spcPct val="100000"/>
                </a:lnSpc>
                <a:spcBef>
                  <a:spcPct val="0"/>
                </a:spcBef>
                <a:spcAft>
                  <a:spcPct val="35000"/>
                </a:spcAft>
                <a:buNone/>
              </a:pPr>
              <a:r>
                <a:rPr lang="en-US" sz="1600" kern="1200" dirty="0"/>
                <a:t>Testing can occur at end of development cycle</a:t>
              </a:r>
            </a:p>
            <a:p>
              <a:pPr marL="0" lvl="0" indent="0" algn="l" defTabSz="711200">
                <a:lnSpc>
                  <a:spcPct val="100000"/>
                </a:lnSpc>
                <a:spcBef>
                  <a:spcPct val="0"/>
                </a:spcBef>
                <a:spcAft>
                  <a:spcPct val="35000"/>
                </a:spcAft>
                <a:buNone/>
              </a:pPr>
              <a:r>
                <a:rPr lang="en-US" sz="1600" kern="1200" dirty="0"/>
                <a:t>Fixed budget</a:t>
              </a:r>
            </a:p>
          </p:txBody>
        </p:sp>
        <p:sp>
          <p:nvSpPr>
            <p:cNvPr id="11" name="Freeform: Shape 10">
              <a:extLst>
                <a:ext uri="{FF2B5EF4-FFF2-40B4-BE49-F238E27FC236}">
                  <a16:creationId xmlns:a16="http://schemas.microsoft.com/office/drawing/2014/main" id="{E6BAEC62-9E66-E2BD-BBE8-D16F73363E63}"/>
                </a:ext>
              </a:extLst>
            </p:cNvPr>
            <p:cNvSpPr/>
            <p:nvPr/>
          </p:nvSpPr>
          <p:spPr>
            <a:xfrm>
              <a:off x="6276518" y="3737911"/>
              <a:ext cx="4096830" cy="486986"/>
            </a:xfrm>
            <a:custGeom>
              <a:avLst/>
              <a:gdLst>
                <a:gd name="connsiteX0" fmla="*/ 0 w 4096830"/>
                <a:gd name="connsiteY0" fmla="*/ 0 h 486986"/>
                <a:gd name="connsiteX1" fmla="*/ 4096830 w 4096830"/>
                <a:gd name="connsiteY1" fmla="*/ 0 h 486986"/>
                <a:gd name="connsiteX2" fmla="*/ 4096830 w 4096830"/>
                <a:gd name="connsiteY2" fmla="*/ 486986 h 486986"/>
                <a:gd name="connsiteX3" fmla="*/ 0 w 4096830"/>
                <a:gd name="connsiteY3" fmla="*/ 486986 h 486986"/>
                <a:gd name="connsiteX4" fmla="*/ 0 w 4096830"/>
                <a:gd name="connsiteY4" fmla="*/ 0 h 486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6830" h="486986">
                  <a:moveTo>
                    <a:pt x="0" y="0"/>
                  </a:moveTo>
                  <a:lnTo>
                    <a:pt x="4096830" y="0"/>
                  </a:lnTo>
                  <a:lnTo>
                    <a:pt x="4096830" y="486986"/>
                  </a:lnTo>
                  <a:lnTo>
                    <a:pt x="0" y="48698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1377950">
                <a:lnSpc>
                  <a:spcPct val="100000"/>
                </a:lnSpc>
                <a:spcBef>
                  <a:spcPct val="0"/>
                </a:spcBef>
                <a:spcAft>
                  <a:spcPct val="35000"/>
                </a:spcAft>
                <a:buNone/>
                <a:defRPr b="1"/>
              </a:pPr>
              <a:r>
                <a:rPr lang="en-US" sz="3100" kern="1200" dirty="0"/>
                <a:t>Agile</a:t>
              </a:r>
            </a:p>
          </p:txBody>
        </p:sp>
        <p:sp>
          <p:nvSpPr>
            <p:cNvPr id="12" name="Freeform: Shape 11">
              <a:extLst>
                <a:ext uri="{FF2B5EF4-FFF2-40B4-BE49-F238E27FC236}">
                  <a16:creationId xmlns:a16="http://schemas.microsoft.com/office/drawing/2014/main" id="{9DE66C90-D5A6-3F1C-6776-E82AFEE01C35}"/>
                </a:ext>
              </a:extLst>
            </p:cNvPr>
            <p:cNvSpPr/>
            <p:nvPr/>
          </p:nvSpPr>
          <p:spPr>
            <a:xfrm>
              <a:off x="6276518" y="4317531"/>
              <a:ext cx="4096830" cy="1891507"/>
            </a:xfrm>
            <a:custGeom>
              <a:avLst/>
              <a:gdLst>
                <a:gd name="connsiteX0" fmla="*/ 0 w 4096830"/>
                <a:gd name="connsiteY0" fmla="*/ 0 h 1891507"/>
                <a:gd name="connsiteX1" fmla="*/ 4096830 w 4096830"/>
                <a:gd name="connsiteY1" fmla="*/ 0 h 1891507"/>
                <a:gd name="connsiteX2" fmla="*/ 4096830 w 4096830"/>
                <a:gd name="connsiteY2" fmla="*/ 1891507 h 1891507"/>
                <a:gd name="connsiteX3" fmla="*/ 0 w 4096830"/>
                <a:gd name="connsiteY3" fmla="*/ 1891507 h 1891507"/>
                <a:gd name="connsiteX4" fmla="*/ 0 w 4096830"/>
                <a:gd name="connsiteY4" fmla="*/ 0 h 1891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6830" h="1891507">
                  <a:moveTo>
                    <a:pt x="0" y="0"/>
                  </a:moveTo>
                  <a:lnTo>
                    <a:pt x="4096830" y="0"/>
                  </a:lnTo>
                  <a:lnTo>
                    <a:pt x="4096830" y="1891507"/>
                  </a:lnTo>
                  <a:lnTo>
                    <a:pt x="0" y="189150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kern="1200" dirty="0"/>
                <a:t>Unclear or likely to evolve requirements</a:t>
              </a:r>
            </a:p>
            <a:p>
              <a:pPr marL="0" lvl="0" indent="0" algn="l" defTabSz="711200">
                <a:lnSpc>
                  <a:spcPct val="100000"/>
                </a:lnSpc>
                <a:spcBef>
                  <a:spcPct val="0"/>
                </a:spcBef>
                <a:spcAft>
                  <a:spcPct val="35000"/>
                </a:spcAft>
                <a:buNone/>
              </a:pPr>
              <a:r>
                <a:rPr lang="en-US" sz="1600" kern="1200" dirty="0"/>
                <a:t>Heavy client involvement, high customer input</a:t>
              </a:r>
            </a:p>
            <a:p>
              <a:pPr marL="0" lvl="0" indent="0" algn="l" defTabSz="711200">
                <a:lnSpc>
                  <a:spcPct val="100000"/>
                </a:lnSpc>
                <a:spcBef>
                  <a:spcPct val="0"/>
                </a:spcBef>
                <a:spcAft>
                  <a:spcPct val="35000"/>
                </a:spcAft>
                <a:buNone/>
              </a:pPr>
              <a:r>
                <a:rPr lang="en-US" sz="1600" kern="1200" dirty="0"/>
                <a:t>Flexible timeline that can accommodate iterative improvements</a:t>
              </a:r>
            </a:p>
            <a:p>
              <a:pPr marL="0" lvl="0" indent="0" algn="l" defTabSz="711200">
                <a:lnSpc>
                  <a:spcPct val="100000"/>
                </a:lnSpc>
                <a:spcBef>
                  <a:spcPct val="0"/>
                </a:spcBef>
                <a:spcAft>
                  <a:spcPct val="35000"/>
                </a:spcAft>
                <a:buNone/>
              </a:pPr>
              <a:r>
                <a:rPr lang="en-US" sz="1600" kern="1200" dirty="0"/>
                <a:t>Complex with frequent reassessment of goals</a:t>
              </a:r>
            </a:p>
            <a:p>
              <a:pPr marL="0" lvl="0" indent="0" algn="l" defTabSz="711200">
                <a:lnSpc>
                  <a:spcPct val="100000"/>
                </a:lnSpc>
                <a:spcBef>
                  <a:spcPct val="0"/>
                </a:spcBef>
                <a:spcAft>
                  <a:spcPct val="35000"/>
                </a:spcAft>
                <a:buNone/>
              </a:pPr>
              <a:r>
                <a:rPr lang="en-US" sz="1600" kern="1200" dirty="0"/>
                <a:t>Continuous testing and feedback is important and feasible</a:t>
              </a:r>
            </a:p>
            <a:p>
              <a:pPr marL="0" lvl="0" indent="0" algn="l" defTabSz="711200">
                <a:lnSpc>
                  <a:spcPct val="100000"/>
                </a:lnSpc>
                <a:spcBef>
                  <a:spcPct val="0"/>
                </a:spcBef>
                <a:spcAft>
                  <a:spcPct val="35000"/>
                </a:spcAft>
                <a:buNone/>
              </a:pPr>
              <a:r>
                <a:rPr lang="en-US" sz="1600" kern="1200" dirty="0"/>
                <a:t>Budget adjustments can be accommodated</a:t>
              </a:r>
            </a:p>
          </p:txBody>
        </p:sp>
      </p:grpSp>
      <p:pic>
        <p:nvPicPr>
          <p:cNvPr id="14" name="Picture 13" descr="A black and white sign with stairs in a circle&#10;&#10;Description automatically generated">
            <a:extLst>
              <a:ext uri="{FF2B5EF4-FFF2-40B4-BE49-F238E27FC236}">
                <a16:creationId xmlns:a16="http://schemas.microsoft.com/office/drawing/2014/main" id="{D4ECB784-7BCD-A2B7-9A05-98A43D1DDF6B}"/>
              </a:ext>
            </a:extLst>
          </p:cNvPr>
          <p:cNvPicPr>
            <a:picLocks noChangeAspect="1"/>
          </p:cNvPicPr>
          <p:nvPr/>
        </p:nvPicPr>
        <p:blipFill>
          <a:blip r:embed="rId3"/>
          <a:stretch>
            <a:fillRect/>
          </a:stretch>
        </p:blipFill>
        <p:spPr>
          <a:xfrm>
            <a:off x="1450930" y="1260403"/>
            <a:ext cx="1213567" cy="1213567"/>
          </a:xfrm>
          <a:prstGeom prst="rect">
            <a:avLst/>
          </a:prstGeom>
        </p:spPr>
      </p:pic>
      <p:pic>
        <p:nvPicPr>
          <p:cNvPr id="16" name="Picture 15" descr="A black circle with arrows in it&#10;&#10;Description automatically generated">
            <a:extLst>
              <a:ext uri="{FF2B5EF4-FFF2-40B4-BE49-F238E27FC236}">
                <a16:creationId xmlns:a16="http://schemas.microsoft.com/office/drawing/2014/main" id="{57F19772-6C42-97EB-1253-4956118705E4}"/>
              </a:ext>
            </a:extLst>
          </p:cNvPr>
          <p:cNvPicPr>
            <a:picLocks noChangeAspect="1"/>
          </p:cNvPicPr>
          <p:nvPr/>
        </p:nvPicPr>
        <p:blipFill>
          <a:blip r:embed="rId4"/>
          <a:stretch>
            <a:fillRect/>
          </a:stretch>
        </p:blipFill>
        <p:spPr>
          <a:xfrm>
            <a:off x="6276518" y="1260402"/>
            <a:ext cx="1213567" cy="1213567"/>
          </a:xfrm>
          <a:prstGeom prst="rect">
            <a:avLst/>
          </a:prstGeom>
        </p:spPr>
      </p:pic>
    </p:spTree>
    <p:extLst>
      <p:ext uri="{BB962C8B-B14F-4D97-AF65-F5344CB8AC3E}">
        <p14:creationId xmlns:p14="http://schemas.microsoft.com/office/powerpoint/2010/main" val="3830151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E2E6A-35EC-1B8E-0FD7-8C67870ACA64}"/>
              </a:ext>
            </a:extLst>
          </p:cNvPr>
          <p:cNvSpPr>
            <a:spLocks noGrp="1"/>
          </p:cNvSpPr>
          <p:nvPr>
            <p:ph type="title"/>
          </p:nvPr>
        </p:nvSpPr>
        <p:spPr>
          <a:xfrm>
            <a:off x="2933700" y="568961"/>
            <a:ext cx="8420100" cy="1780860"/>
          </a:xfrm>
        </p:spPr>
        <p:txBody>
          <a:bodyPr/>
          <a:lstStyle/>
          <a:p>
            <a:r>
              <a:rPr lang="en-US" dirty="0"/>
              <a:t>reflection</a:t>
            </a:r>
          </a:p>
        </p:txBody>
      </p:sp>
      <p:sp>
        <p:nvSpPr>
          <p:cNvPr id="35" name="Content Placeholder 34">
            <a:extLst>
              <a:ext uri="{FF2B5EF4-FFF2-40B4-BE49-F238E27FC236}">
                <a16:creationId xmlns:a16="http://schemas.microsoft.com/office/drawing/2014/main" id="{EDBE6233-75E9-40D1-968F-58CA9AD0FF50}"/>
              </a:ext>
            </a:extLst>
          </p:cNvPr>
          <p:cNvSpPr>
            <a:spLocks noGrp="1"/>
          </p:cNvSpPr>
          <p:nvPr>
            <p:ph sz="half" idx="13"/>
          </p:nvPr>
        </p:nvSpPr>
        <p:spPr>
          <a:xfrm>
            <a:off x="2933700" y="2735953"/>
            <a:ext cx="7555006" cy="3234264"/>
          </a:xfrm>
        </p:spPr>
        <p:txBody>
          <a:bodyPr>
            <a:normAutofit fontScale="92500" lnSpcReduction="20000"/>
          </a:bodyPr>
          <a:lstStyle/>
          <a:p>
            <a:r>
              <a:rPr lang="en-US" dirty="0"/>
              <a:t>In conclusion, selecting between Agile and Waterfall methodologies for software development projects hinges on understanding the unique requirements and dynamics of each project (Kerzner, 2021). </a:t>
            </a:r>
          </a:p>
          <a:p>
            <a:r>
              <a:rPr lang="en-US" dirty="0"/>
              <a:t>Agile is best suited for projects characterized by evolving requirements and the need for flexibility, as it fosters continuous collaboration and rapid iteration. </a:t>
            </a:r>
          </a:p>
          <a:p>
            <a:r>
              <a:rPr lang="en-US" dirty="0"/>
              <a:t>In contrast, Waterfall excels in environments where project specifications are well-defined and unlikely to change, allowing for a structured and sequential approach. </a:t>
            </a:r>
          </a:p>
          <a:p>
            <a:r>
              <a:rPr lang="en-US" dirty="0"/>
              <a:t>Ultimately, a thorough assessment of project goals, stakeholder engagement, and the potential for change will guide teams in making an informed choice that aligns with their objectives and enhances project success.</a:t>
            </a:r>
          </a:p>
        </p:txBody>
      </p:sp>
      <p:sp>
        <p:nvSpPr>
          <p:cNvPr id="8" name="Slide Number Placeholder 7">
            <a:extLst>
              <a:ext uri="{FF2B5EF4-FFF2-40B4-BE49-F238E27FC236}">
                <a16:creationId xmlns:a16="http://schemas.microsoft.com/office/drawing/2014/main" id="{8F44A959-C2BB-9170-C99C-1A2EDB71B994}"/>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18</a:t>
            </a:fld>
            <a:endParaRPr lang="en-US" dirty="0"/>
          </a:p>
        </p:txBody>
      </p:sp>
    </p:spTree>
    <p:extLst>
      <p:ext uri="{BB962C8B-B14F-4D97-AF65-F5344CB8AC3E}">
        <p14:creationId xmlns:p14="http://schemas.microsoft.com/office/powerpoint/2010/main" val="103458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1EDE-5423-435C-B149-87AB1BC22B83}"/>
              </a:ext>
            </a:extLst>
          </p:cNvPr>
          <p:cNvSpPr>
            <a:spLocks noGrp="1"/>
          </p:cNvSpPr>
          <p:nvPr>
            <p:ph type="ctrTitle"/>
          </p:nvPr>
        </p:nvSpPr>
        <p:spPr>
          <a:xfrm>
            <a:off x="4258235" y="-105487"/>
            <a:ext cx="4179570" cy="1524735"/>
          </a:xfrm>
        </p:spPr>
        <p:txBody>
          <a:bodyPr/>
          <a:lstStyle/>
          <a:p>
            <a:r>
              <a:rPr lang="en-US" dirty="0"/>
              <a:t>REFERENCES</a:t>
            </a:r>
          </a:p>
        </p:txBody>
      </p:sp>
      <p:sp>
        <p:nvSpPr>
          <p:cNvPr id="3" name="Subtitle 2">
            <a:extLst>
              <a:ext uri="{FF2B5EF4-FFF2-40B4-BE49-F238E27FC236}">
                <a16:creationId xmlns:a16="http://schemas.microsoft.com/office/drawing/2014/main" id="{AF64C29E-DF30-4DC6-AB95-2016F9A703B6}"/>
              </a:ext>
            </a:extLst>
          </p:cNvPr>
          <p:cNvSpPr>
            <a:spLocks noGrp="1"/>
          </p:cNvSpPr>
          <p:nvPr>
            <p:ph type="subTitle" idx="1"/>
          </p:nvPr>
        </p:nvSpPr>
        <p:spPr>
          <a:xfrm>
            <a:off x="4258235" y="1543773"/>
            <a:ext cx="7531510" cy="4709109"/>
          </a:xfrm>
        </p:spPr>
        <p:txBody>
          <a:bodyPr>
            <a:noAutofit/>
          </a:bodyPr>
          <a:lstStyle/>
          <a:p>
            <a:pPr>
              <a:lnSpc>
                <a:spcPct val="100000"/>
              </a:lnSpc>
            </a:pPr>
            <a:r>
              <a:rPr lang="en-US" sz="1400" dirty="0"/>
              <a:t>BAP Software. (n.d.). </a:t>
            </a:r>
            <a:r>
              <a:rPr lang="en-US" sz="1400" i="1" dirty="0"/>
              <a:t>What is the waterfall software model?</a:t>
            </a:r>
            <a:r>
              <a:rPr lang="en-US" sz="1400" dirty="0"/>
              <a:t> Retrieved October 2, 2024, from https://bap-software.net/en/knowledge/what-is-the-waterfall-software-models/</a:t>
            </a:r>
          </a:p>
          <a:p>
            <a:pPr>
              <a:lnSpc>
                <a:spcPct val="100000"/>
              </a:lnSpc>
            </a:pPr>
            <a:r>
              <a:rPr lang="en-US" sz="1400" dirty="0"/>
              <a:t>Cobb, C. (2015). </a:t>
            </a:r>
            <a:r>
              <a:rPr lang="en-US" sz="1400" i="1" dirty="0"/>
              <a:t>The Project Manager’s Guide to Mastering Agile: Principles and Practices for an Adaptive Approach </a:t>
            </a:r>
            <a:r>
              <a:rPr lang="en-US" sz="1400" dirty="0"/>
              <a:t>(p. 39). Hoboken: Wiley.</a:t>
            </a:r>
          </a:p>
          <a:p>
            <a:pPr>
              <a:lnSpc>
                <a:spcPct val="100000"/>
              </a:lnSpc>
            </a:pPr>
            <a:r>
              <a:rPr lang="en-US" sz="1400" dirty="0"/>
              <a:t>Lean Wisdom. (2022). </a:t>
            </a:r>
            <a:r>
              <a:rPr lang="en-US" sz="1400" i="1" dirty="0"/>
              <a:t>Agile Manifesto principles</a:t>
            </a:r>
            <a:r>
              <a:rPr lang="en-US" sz="1400" dirty="0"/>
              <a:t>. Retrieved October 2, 2024, from https://www.leanwisdom.com/blog/agile-manifesto-principles/</a:t>
            </a:r>
          </a:p>
          <a:p>
            <a:pPr>
              <a:lnSpc>
                <a:spcPct val="100000"/>
              </a:lnSpc>
            </a:pPr>
            <a:r>
              <a:rPr lang="en-US" sz="1400" dirty="0"/>
              <a:t>Kerzner, H. (2021). </a:t>
            </a:r>
            <a:r>
              <a:rPr lang="en-US" sz="1400" i="1" dirty="0"/>
              <a:t>Innovation project management: Methods, case studies, and tools for managing innovation projects</a:t>
            </a:r>
            <a:r>
              <a:rPr lang="en-US" sz="1400" dirty="0"/>
              <a:t>. Wiley.</a:t>
            </a:r>
          </a:p>
          <a:p>
            <a:pPr>
              <a:lnSpc>
                <a:spcPct val="100000"/>
              </a:lnSpc>
            </a:pPr>
            <a:r>
              <a:rPr lang="en-US" sz="1400" dirty="0" err="1"/>
              <a:t>Kulsrud</a:t>
            </a:r>
            <a:r>
              <a:rPr lang="en-US" sz="1400" dirty="0"/>
              <a:t>, K. (2020). </a:t>
            </a:r>
            <a:r>
              <a:rPr lang="en-US" sz="1400" i="1" dirty="0"/>
              <a:t>Agile teams: Structure, roles, and success factors</a:t>
            </a:r>
            <a:r>
              <a:rPr lang="en-US" sz="1400" dirty="0"/>
              <a:t>. Journal of Software Engineering and Applications, 13(3), 155-162. https://doi.org/10.4236/jsea.2020.133010</a:t>
            </a:r>
          </a:p>
          <a:p>
            <a:pPr>
              <a:lnSpc>
                <a:spcPct val="100000"/>
              </a:lnSpc>
            </a:pPr>
            <a:r>
              <a:rPr lang="en-US" sz="1400" dirty="0"/>
              <a:t>Rigby, D. K., Elk, S., &amp; </a:t>
            </a:r>
            <a:r>
              <a:rPr lang="en-US" sz="1400" dirty="0" err="1"/>
              <a:t>Berez</a:t>
            </a:r>
            <a:r>
              <a:rPr lang="en-US" sz="1400" dirty="0"/>
              <a:t>, S. (2020). </a:t>
            </a:r>
            <a:r>
              <a:rPr lang="en-US" sz="1400" i="1" dirty="0"/>
              <a:t>Doing agile right: Transformation without chaos</a:t>
            </a:r>
            <a:r>
              <a:rPr lang="en-US" sz="1400" dirty="0"/>
              <a:t>. Harvard Business Review Press.</a:t>
            </a:r>
          </a:p>
          <a:p>
            <a:pPr>
              <a:lnSpc>
                <a:spcPct val="100000"/>
              </a:lnSpc>
            </a:pPr>
            <a:r>
              <a:rPr lang="en-US" sz="1400" dirty="0" err="1"/>
              <a:t>Rohilla</a:t>
            </a:r>
            <a:r>
              <a:rPr lang="en-US" sz="1400" dirty="0"/>
              <a:t>, R. (2024). </a:t>
            </a:r>
            <a:r>
              <a:rPr lang="en-US" sz="1400" i="1" dirty="0"/>
              <a:t>Agile vs. Waterfall: Which project management method is right for you?</a:t>
            </a:r>
            <a:r>
              <a:rPr lang="en-US" sz="1400" dirty="0"/>
              <a:t> LinkedIn. https://www.linkedin.com/pulse/agile-vs-waterfall-which-project-management-method-right-rohilla-apl1c</a:t>
            </a:r>
          </a:p>
          <a:p>
            <a:pPr>
              <a:lnSpc>
                <a:spcPct val="100000"/>
              </a:lnSpc>
            </a:pPr>
            <a:r>
              <a:rPr lang="en-US" sz="1400" dirty="0" err="1"/>
              <a:t>Spundak</a:t>
            </a:r>
            <a:r>
              <a:rPr lang="en-US" sz="1400" dirty="0"/>
              <a:t>, M., </a:t>
            </a:r>
            <a:r>
              <a:rPr lang="en-US" sz="1400" dirty="0" err="1"/>
              <a:t>Picek</a:t>
            </a:r>
            <a:r>
              <a:rPr lang="en-US" sz="1400" dirty="0"/>
              <a:t>, O., &amp; </a:t>
            </a:r>
            <a:r>
              <a:rPr lang="en-US" sz="1400" dirty="0" err="1"/>
              <a:t>Strahonja</a:t>
            </a:r>
            <a:r>
              <a:rPr lang="en-US" sz="1400" dirty="0"/>
              <a:t>, V. (2020). Agile project management: Complexity, iteration, and flexibility in software development. </a:t>
            </a:r>
            <a:r>
              <a:rPr lang="en-US" sz="1400" i="1" dirty="0"/>
              <a:t>Journal of Modern Project Management</a:t>
            </a:r>
            <a:r>
              <a:rPr lang="en-US" sz="1400" dirty="0"/>
              <a:t>, </a:t>
            </a:r>
            <a:r>
              <a:rPr lang="en-US" sz="1400" i="1" dirty="0"/>
              <a:t>8</a:t>
            </a:r>
            <a:r>
              <a:rPr lang="en-US" sz="1400" dirty="0"/>
              <a:t>(2), 32-41. https://doi.org/10.19255/JMPM02204 </a:t>
            </a:r>
          </a:p>
          <a:p>
            <a:pPr>
              <a:lnSpc>
                <a:spcPct val="100000"/>
              </a:lnSpc>
            </a:pPr>
            <a:endParaRPr lang="en-US" sz="1400" dirty="0"/>
          </a:p>
        </p:txBody>
      </p:sp>
    </p:spTree>
    <p:extLst>
      <p:ext uri="{BB962C8B-B14F-4D97-AF65-F5344CB8AC3E}">
        <p14:creationId xmlns:p14="http://schemas.microsoft.com/office/powerpoint/2010/main" val="1969787568"/>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BF691C-888B-4061-8A6F-D5CE84A0254B}">
  <ds:schemaRefs>
    <ds:schemaRef ds:uri="http://schemas.microsoft.com/sharepoint/v3/contenttype/forms"/>
  </ds:schemaRefs>
</ds:datastoreItem>
</file>

<file path=customXml/itemProps3.xml><?xml version="1.0" encoding="utf-8"?>
<ds:datastoreItem xmlns:ds="http://schemas.openxmlformats.org/officeDocument/2006/customXml" ds:itemID="{49168DCE-134F-4610-A6AA-88CEBE8D71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{33C5C19D-4C7C-4242-9704-606325659DB9}tf67328976_win32</Template>
  <TotalTime>718</TotalTime>
  <Words>1175</Words>
  <Application>Microsoft Office PowerPoint</Application>
  <PresentationFormat>Widescreen</PresentationFormat>
  <Paragraphs>157</Paragraphs>
  <Slides>19</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Tenorite</vt:lpstr>
      <vt:lpstr>Wingdings</vt:lpstr>
      <vt:lpstr>Custom</vt:lpstr>
      <vt:lpstr>INTRODUCING AGILE</vt:lpstr>
      <vt:lpstr>AGENDA</vt:lpstr>
      <vt:lpstr>What is agile?</vt:lpstr>
      <vt:lpstr>Agile at a glance</vt:lpstr>
      <vt:lpstr>PowerPoint Presentation</vt:lpstr>
      <vt:lpstr>AGILE ROLES</vt:lpstr>
      <vt:lpstr>Agile roles</vt:lpstr>
      <vt:lpstr>Agile infrastructure</vt:lpstr>
      <vt:lpstr>ceremonies</vt:lpstr>
      <vt:lpstr>AGILE Framework</vt:lpstr>
      <vt:lpstr>SDLC phases for agile</vt:lpstr>
      <vt:lpstr>What is waterfall?</vt:lpstr>
      <vt:lpstr>waterfall at a glance</vt:lpstr>
      <vt:lpstr>Waterfall framework </vt:lpstr>
      <vt:lpstr>Case study</vt:lpstr>
      <vt:lpstr>Agile  vs  waterfall</vt:lpstr>
      <vt:lpstr>Factors to determine approach</vt:lpstr>
      <vt:lpstr>reflection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Diane Goy</dc:creator>
  <cp:lastModifiedBy>Diane Goy</cp:lastModifiedBy>
  <cp:revision>1</cp:revision>
  <dcterms:created xsi:type="dcterms:W3CDTF">2024-10-02T12:16:21Z</dcterms:created>
  <dcterms:modified xsi:type="dcterms:W3CDTF">2024-10-18T22:10:38Z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